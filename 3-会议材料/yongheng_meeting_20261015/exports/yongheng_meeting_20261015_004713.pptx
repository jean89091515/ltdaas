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永恒，今天想跟你聊的核心问题就是封面上这一句：平台工作对外卖骑手、快递员、网约车司机这些人来说，到底是跳板还是陷阱。网上把这三类工作叫"铁人三项"。我们想用联通的 APP 使用数据加位置数据，把同一批人的轨迹串起来看，这件事离不开你们的数据和经验，所以先跟你对一下思路。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大概四段：先花几分钟讲背景和研究问题，再讲数据和识别方法，然后用最多的时间请你看看我们卡住的几个数据问题，最后聊分工和下一步。会后希望达成三件事：一是听听你觉得这个研究值不值得一起做；二是那些数据问题你能当场回答的就回答，回答不了的帮忙认领一下；三是约定好新版 APP 名录，我们这周就在系统里跑数据摸底。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先说我们已经做了什么。起因是张所最近一直关心灵活就业，领导要求做一个就业数据的系列研究。第一步是全国底数：CMEP-2020 数据集覆盖 2989 个县级单元、20 个行业和 7 个职业，官方口径 7.51 亿就业人员，已经投了《中国科学数据》。第二篇是用 2189 个城镇单元做的就业职能标度论文，投了《地理学报》。第三篇在写，测算出个体经营型灵活就业大约 1.71 亿人，占非农就业的 29.8%。这些都是县域层面的静态数据，下一步想走到北京、走到个体，用联通 DaaS 从个体角度识别平台从业者。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对象就是外卖骑手（包括即时配送和跑腿）、快递员和网约车司机，货运和代驾作为补充类别。这群人是灵活就业的主力方向，但我们其实不知道他们从哪来、往哪去。具体想回答六个问题：北京有多少人、这几年怎么变、兼做两类以上的有多少；他们是谁，年龄、性别、户籍来源、收入档，住在哪；有多少人一边跑单一边还在找工作，用的是蓝领、综合还是白领的求职渠道；进入平台前是在工厂、写字楼、商业区上班，还是没有固定工作，或者刚来北京；能连续干几个季度；最后退出时是回到固定岗位、转做别的平台、没有固定工作，还是离开北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这六个问题背后有一个可以检验的核心命题。如果平台是跳板，那么跑单期间还在用求职 APP 的人，下一期回到固定工作地的应该更多；如果是缓冲垫，我们会看到人在进入前固定工作地消失了，短期跑一段时间就退出；如果是陷阱，回到固定岗位的概率会随着在平台上干的期数增加而下降。另外想专门看一下三十五岁、四十五岁以上的中年人，是不是更难回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值得做？国内的研究基本靠问卷。美团研究院调查发现，当骑手之前大约四分之一在工厂打工；孙萍《过渡劳动》的北京调查里，只有百分之十二点九的外卖员愿意一直送，八成以上打算两年内换工作；南开四万多份调查显示平均从业不到十二个月。这些都是回忆式、单一平台的横截面数据。国外用税务和财务数据：Koustas 发现人们是收入和资产先下滑才去开网约车，Fos 等发现 Uber 进城后被裁员工更少依赖失业金，Huang 等发现失业率上升会带来线上零工参与增加。但两边都看不到同一个人退出后去了哪里，也看不到求职和跨平台。最接近的是 Qiao 等用手机轨迹识别成都网约车司机的居住地，以及波兰一组用 APP 测平台从业者规模，但都没有把轨迹串起来。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数据上，我们手里是北京每年三、六、九、十二月的 DaaS 数据。几张表拼起来正好能回答需要的信息：user_app 有每人每月每个 APP 的时长和流量，用来识别平台工作、求职和兼职；user_attribute 有年龄段、性别、身份证前六位、通讯费、是否本地、核心用户和扩样权重，用来做人群画像和户籍来源；stay_poi 有月度停留点和工作日白天、夜间的停留时长，用来判断有没有固定工作地和住在哪；move_month 的出行次数、距离和时长用来校验是不是在路上干活；再通过 250 米网格落到区县和街道。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识别规则分三步。先看平台 APP 时长：某类工作端 APP 当月用满五十小时就算该类平台从业者，几类都满足的取时长最多的一类并记为兼做，二十和一百小时做敏感性检验。不是平台从业者的，再看固定工作地，工作日白天在工作地停留满四十小时算固定工作。剩下的算无固定工作。这样每期每个人都有一个状态：四类平台、固定工作、无固定工作，或者这一期不在库。求职渠道分蓝领、综合、白领三类；另外会用停留和出行特征做行为校验，重度使用工作端 APP 的人应该停留点多、没有固定工作地、出行时长长。这里特别想请教你：你们专利里用流量加时长识别的思路和阈值是怎么定的。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APP 名录是眼下的一个卡点。我们手上的旧名录大约是二〇一八到二〇二〇年的，里面还有摩拜、虾米音乐。主要的骑手端、司机端、货运、求职和兼职 APP 都找到了，但京东秒送骑手、美团众包、蜂鸟众包这些新平台，中通、圆通、京东小哥这类快递公司的作业 APP，还有猪八戒、程序员客栈这类专业接单平台，都还不确定在不在库。所以需要你帮忙提供一份新版 APP 名录。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分析流程分四步，SQL 都已经写好了。零零步数据摸底，确认月份覆盖、uid 能不能跨期、APP 名录、时长分布和行为校验；零一步建每期每人的状态表；零二步按状态、年龄、户籍、求职渠道、区县做截面汇总并拼成全期面板；零三步做转移汇总，包括相邻期转移、从业段从哪来干多久往哪去、人期表，以及进入和退出前后各四期的轨迹。合规上我们严格按平台规则：含 uid 的语句一律建表留在系统里，导出结果不含 uid，uid 只出现在计数里，每张导出不超过一万行，实际最大大约五千三百行，少于十五人的显示小于等于十五，中间表带版本号不删表。我们检查过四个文件九十五条语句全部合规，语法也通过了，零二和零三步用模拟数据测过，八百八十六个从业段和独立计算完全一致。不过这些 SQL 还没在平台上真正跑过，也请你帮忙看看有没有会触发校验的写法。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成果上想做两篇主稿。论文一是中文核心，讲北京平台劳动者的规模、构成和求职行为，二〇一九到二〇二五年，目标《人口研究》《人口与经济》《地理研究》或《城市规划学刊》，明年二月投。论文二是 SCI，用季度追踪检验跳板、缓冲垫还是陷阱，目标 Urban Studies、EPA、China Economic Review 或 Cities，明年七月投。如果数据允许，第三篇可以看二〇二五年外卖大战的冲击。对你来说，我们希望共同署名，也可以服务你的博士研究。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这页是今天最想请你帮忙的。十个问题里最关键的是两个：第一是新版 APP 名录和上网标签码表，最好是近两年北京的名称、标签和用户数；第三是 uid 能不能跨月、跨年对上，这决定了能不能做季度追踪。其余的包括：user_app 历年各期是否都有、口径变过没有、是不是只统计蜂窝流量；is_core 和 weight 的定义，以及一人多卡怎么处理；整天流动的骑手和司机会不会被判出工作地，三十分钟驻留规则有什么影响，ptype 等于三是什么意思；快递作业 APP、京东秒送、美团众包能不能识别；能不能像以前的 wl_code 那样上传我们自己的对照表；系统支持哪些函数、单次运行有没有限制；用聚合结果发论文需要什么流程、要不要公司书面同意；以及你们专利的专利号和方法要点，论文里要引用。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工上我们的建议是：你来把关数据口径和识别方法，结合专利经验，也把关平台运行规则，并参与论文写作、共同署名；我们负责研究设计、SQL、分析、出图和论文起草，每两周线上碰一次。时间上，这周最要紧两件事：你提供新版 APP 名录，我们在 DaaS 上跑零零数据摸底。十月底定稿 APP 清单和阈值，确认 uid 能否追踪；十一月跑状态表和截面汇总，并和公开数据校验；十二月到明年一月写论文一，二月投稿；明年二到六月做转移汇总和论文二，七月投稿。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yongheng_meet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yongheng_meet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9600" y="990600"/>
            <a:ext cx="3122286" cy="289751"/>
            <a:chOff x="609600" y="990600"/>
            <a:chExt cx="3122286" cy="289751"/>
          </a:xfrm>
        </p:grpSpPr>
        <p:sp>
          <p:nvSpPr>
            <p:cNvPr id="3" name="Rectangle 3"/>
            <p:cNvSpPr/>
            <p:nvPr/>
          </p:nvSpPr>
          <p:spPr>
            <a:xfrm>
              <a:off x="609600" y="990600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36142" y="1016318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与智慧足迹对接讨论 · 线上会议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2450" y="1718310"/>
            <a:ext cx="4884420" cy="3044952"/>
            <a:chOff x="552450" y="1718310"/>
            <a:chExt cx="4884420" cy="3044952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718310"/>
              <a:ext cx="294589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跳板，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2450" y="2842260"/>
              <a:ext cx="488442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还是</a:t>
              </a:r>
              <a:r>
                <a:rPr lang="zh-CN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陷阱</a:t>
              </a:r>
              <a:r>
                <a:rPr lang="zh-CN" sz="7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3912870"/>
              <a:ext cx="3712464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用联通 APP + 位置数据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追踪北京“铁人三项”从业者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1980" y="5410200"/>
            <a:ext cx="4732020" cy="746951"/>
            <a:chOff x="601980" y="5410200"/>
            <a:chExt cx="4732020" cy="746951"/>
          </a:xfrm>
        </p:grpSpPr>
        <p:sp>
          <p:nvSpPr>
            <p:cNvPr id="10" name="Line 10"/>
            <p:cNvSpPr/>
            <p:nvPr/>
          </p:nvSpPr>
          <p:spPr>
            <a:xfrm>
              <a:off x="609600" y="54102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1980" y="55911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王良｜北京市城市规划设计研究院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5893118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10 月 15 日 · 与冯永恒（智慧足迹）对接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908542" y="1710690"/>
            <a:ext cx="2673858" cy="3608261"/>
            <a:chOff x="8908542" y="1710690"/>
            <a:chExt cx="2673858" cy="3608261"/>
          </a:xfrm>
        </p:grpSpPr>
        <p:grpSp>
          <p:nvGrpSpPr>
            <p:cNvPr id="21" name="Group 21"/>
            <p:cNvGrpSpPr/>
            <p:nvPr/>
          </p:nvGrpSpPr>
          <p:grpSpPr>
            <a:xfrm>
              <a:off x="8959850" y="1710690"/>
              <a:ext cx="2140204" cy="560261"/>
              <a:chOff x="8959850" y="1710690"/>
              <a:chExt cx="2140204" cy="560261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8959850" y="1752600"/>
                <a:ext cx="444499" cy="288925"/>
                <a:chOff x="8959850" y="1752600"/>
                <a:chExt cx="444499" cy="288925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959850" y="19081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8"/>
                        <a:pt x="29851" y="133350"/>
                        <a:pt x="66675" y="133350"/>
                      </a:cubicBezTo>
                      <a:cubicBezTo>
                        <a:pt x="103498" y="133350"/>
                        <a:pt x="133350" y="103498"/>
                        <a:pt x="133350" y="66675"/>
                      </a:cubicBezTo>
                      <a:cubicBezTo>
                        <a:pt x="133350" y="29851"/>
                        <a:pt x="103498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44450">
                  <a:solidFill>
                    <a:srgbClr val="FFFF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270999" y="19081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8"/>
                        <a:pt x="29851" y="133350"/>
                        <a:pt x="66675" y="133350"/>
                      </a:cubicBezTo>
                      <a:cubicBezTo>
                        <a:pt x="103498" y="133350"/>
                        <a:pt x="133350" y="103498"/>
                        <a:pt x="133350" y="66675"/>
                      </a:cubicBezTo>
                      <a:cubicBezTo>
                        <a:pt x="133350" y="29851"/>
                        <a:pt x="103498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44450">
                  <a:solidFill>
                    <a:srgbClr val="FFFFFF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048750" y="1841500"/>
                  <a:ext cx="233362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8900">
                      <a:moveTo>
                        <a:pt x="33337" y="88900"/>
                      </a:moveTo>
                      <a:lnTo>
                        <a:pt x="144462" y="88900"/>
                      </a:lnTo>
                      <a:lnTo>
                        <a:pt x="233362" y="0"/>
                      </a:lnTo>
                      <a:lnTo>
                        <a:pt x="0" y="0"/>
                      </a:lnTo>
                      <a:moveTo>
                        <a:pt x="33337" y="88900"/>
                      </a:moveTo>
                      <a:lnTo>
                        <a:pt x="122237" y="0"/>
                      </a:lnTo>
                    </a:path>
                  </a:pathLst>
                </a:custGeom>
                <a:noFill/>
                <a:ln w="44450">
                  <a:solidFill>
                    <a:srgbClr val="FFFFFF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204325" y="1752600"/>
                  <a:ext cx="122237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55575">
                      <a:moveTo>
                        <a:pt x="0" y="0"/>
                      </a:moveTo>
                      <a:lnTo>
                        <a:pt x="44450" y="0"/>
                      </a:lnTo>
                      <a:lnTo>
                        <a:pt x="77787" y="66675"/>
                      </a:lnTo>
                      <a:lnTo>
                        <a:pt x="122237" y="155575"/>
                      </a:lnTo>
                    </a:path>
                  </a:pathLst>
                </a:custGeom>
                <a:noFill/>
                <a:ln w="44450">
                  <a:solidFill>
                    <a:srgbClr val="FFFFFF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9630156" y="17106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外卖骑手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632442" y="20069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含即时配送、跑腿</a:t>
                </a: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8915400" y="25146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9004300" y="2924175"/>
              <a:ext cx="1371092" cy="453009"/>
              <a:chOff x="9004300" y="2924175"/>
              <a:chExt cx="1371092" cy="453009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9004300" y="2924175"/>
                <a:ext cx="355600" cy="400050"/>
                <a:chOff x="9004300" y="2924175"/>
                <a:chExt cx="355600" cy="4000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9004300" y="2924175"/>
                  <a:ext cx="355599" cy="400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599" h="400049">
                      <a:moveTo>
                        <a:pt x="177800" y="0"/>
                      </a:moveTo>
                      <a:lnTo>
                        <a:pt x="355599" y="100012"/>
                      </a:lnTo>
                      <a:lnTo>
                        <a:pt x="355599" y="300037"/>
                      </a:lnTo>
                      <a:lnTo>
                        <a:pt x="177800" y="400049"/>
                      </a:lnTo>
                      <a:lnTo>
                        <a:pt x="0" y="300037"/>
                      </a:lnTo>
                      <a:lnTo>
                        <a:pt x="0" y="100012"/>
                      </a:lnTo>
                      <a:lnTo>
                        <a:pt x="177800" y="0"/>
                      </a:ln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182100" y="3024187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100012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182100" y="3124200"/>
                  <a:ext cx="95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">
                      <a:moveTo>
                        <a:pt x="0" y="0"/>
                      </a:moveTo>
                      <a:lnTo>
                        <a:pt x="0" y="200025"/>
                      </a:ln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9004300" y="3024187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177800" y="100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093200" y="2974181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17780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9630156" y="30251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快递员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8915400" y="37528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982075" y="4229100"/>
              <a:ext cx="1877949" cy="386334"/>
              <a:chOff x="8982075" y="4229100"/>
              <a:chExt cx="1877949" cy="386334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8982075" y="4229100"/>
                <a:ext cx="400049" cy="288925"/>
                <a:chOff x="8982075" y="4229100"/>
                <a:chExt cx="400049" cy="288925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9026525" y="4429125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248775" y="4429125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982075" y="4229100"/>
                  <a:ext cx="400049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49" h="244475">
                      <a:moveTo>
                        <a:pt x="44450" y="244475"/>
                      </a:moveTo>
                      <a:lnTo>
                        <a:pt x="0" y="244475"/>
                      </a:lnTo>
                      <a:lnTo>
                        <a:pt x="0" y="111125"/>
                      </a:lnTo>
                      <a:lnTo>
                        <a:pt x="44450" y="0"/>
                      </a:lnTo>
                      <a:lnTo>
                        <a:pt x="244475" y="0"/>
                      </a:lnTo>
                      <a:lnTo>
                        <a:pt x="333375" y="111125"/>
                      </a:lnTo>
                      <a:lnTo>
                        <a:pt x="355599" y="111125"/>
                      </a:lnTo>
                      <a:cubicBezTo>
                        <a:pt x="380149" y="111125"/>
                        <a:pt x="400049" y="131026"/>
                        <a:pt x="400049" y="155575"/>
                      </a:cubicBezTo>
                      <a:lnTo>
                        <a:pt x="400049" y="244475"/>
                      </a:lnTo>
                      <a:lnTo>
                        <a:pt x="355599" y="244475"/>
                      </a:lnTo>
                      <a:moveTo>
                        <a:pt x="266700" y="244475"/>
                      </a:moveTo>
                      <a:lnTo>
                        <a:pt x="133350" y="244475"/>
                      </a:lnTo>
                      <a:moveTo>
                        <a:pt x="0" y="111125"/>
                      </a:moveTo>
                      <a:lnTo>
                        <a:pt x="333375" y="111125"/>
                      </a:lnTo>
                      <a:moveTo>
                        <a:pt x="200025" y="111125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44450">
                  <a:solidFill>
                    <a:srgbClr val="000000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630156" y="42633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网约车司机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8908542" y="50549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网上称为“铁人三项”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10530840" cy="903922"/>
            <a:chOff x="594360" y="482918"/>
            <a:chExt cx="10530840" cy="90392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17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00 · 会议安排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10530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今天想达成三件事：认可思路、厘清数据口径、约定下一步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1981200"/>
            <a:ext cx="5875020" cy="3492817"/>
            <a:chOff x="609600" y="1981200"/>
            <a:chExt cx="5875020" cy="3492817"/>
          </a:xfrm>
        </p:grpSpPr>
        <p:sp>
          <p:nvSpPr>
            <p:cNvPr id="6" name="Line 6"/>
            <p:cNvSpPr/>
            <p:nvPr/>
          </p:nvSpPr>
          <p:spPr>
            <a:xfrm>
              <a:off x="838200" y="22098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09600" y="1981200"/>
              <a:ext cx="5875020" cy="521017"/>
              <a:chOff x="609600" y="1981200"/>
              <a:chExt cx="5875020" cy="521017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09600" y="19812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9087" y="21012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83970" y="2062162"/>
                <a:ext cx="214312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背景与研究问题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1370" y="2143125"/>
                <a:ext cx="8532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约 8 分钟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09600" y="2971800"/>
              <a:ext cx="5875020" cy="521017"/>
              <a:chOff x="609600" y="2971800"/>
              <a:chExt cx="5875020" cy="521017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09600" y="29718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59087" y="30918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83970" y="3052762"/>
                <a:ext cx="214312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数据与识别方法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520309" y="3133725"/>
                <a:ext cx="9643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约 10 分钟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09600" y="3962400"/>
              <a:ext cx="5875020" cy="521017"/>
              <a:chOff x="609600" y="3962400"/>
              <a:chExt cx="5875020" cy="521017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09600" y="396240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59087" y="40824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83970" y="4043362"/>
                <a:ext cx="244602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想请你确认的问题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520309" y="4124325"/>
                <a:ext cx="9643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约 15 分钟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9600" y="4953000"/>
              <a:ext cx="5875020" cy="521017"/>
              <a:chOff x="609600" y="4953000"/>
              <a:chExt cx="5875020" cy="521017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9600" y="49530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59087" y="50730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83970" y="5033962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分工与下一步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370" y="5114925"/>
                <a:ext cx="8532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约 7 分钟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239000" y="1752600"/>
            <a:ext cx="4343400" cy="4038600"/>
            <a:chOff x="7239000" y="1752600"/>
            <a:chExt cx="4343400" cy="4038600"/>
          </a:xfrm>
        </p:grpSpPr>
        <p:sp>
          <p:nvSpPr>
            <p:cNvPr id="28" name="Rectangle 28"/>
            <p:cNvSpPr/>
            <p:nvPr/>
          </p:nvSpPr>
          <p:spPr>
            <a:xfrm>
              <a:off x="7239000" y="1752600"/>
              <a:ext cx="4343400" cy="403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39000" y="1752600"/>
              <a:ext cx="4343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34656" y="2072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希望会后达成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7581900" y="2720340"/>
              <a:ext cx="3093720" cy="352044"/>
              <a:chOff x="7581900" y="2720340"/>
              <a:chExt cx="3093720" cy="352044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7581900" y="2724150"/>
                <a:ext cx="228599" cy="228599"/>
                <a:chOff x="7581900" y="2724150"/>
                <a:chExt cx="228599" cy="228599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581900" y="272415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658100" y="2813050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7991856" y="27203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你看研究值不值得一起做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581900" y="3634740"/>
              <a:ext cx="3093720" cy="352044"/>
              <a:chOff x="7581900" y="3634740"/>
              <a:chExt cx="3093720" cy="352044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7581900" y="3638550"/>
                <a:ext cx="228599" cy="228599"/>
                <a:chOff x="7581900" y="3638550"/>
                <a:chExt cx="228599" cy="228599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7581900" y="363855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658100" y="3727450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991856" y="36347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逐条回答或认领数据问题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7581900" y="4549140"/>
              <a:ext cx="2314194" cy="694944"/>
              <a:chOff x="7581900" y="4549140"/>
              <a:chExt cx="2314194" cy="694944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7581900" y="4552950"/>
                <a:ext cx="228599" cy="228599"/>
                <a:chOff x="7581900" y="4552950"/>
                <a:chExt cx="228599" cy="228599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7581900" y="455295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658100" y="4641850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7991856" y="4549140"/>
                <a:ext cx="190423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约定新版 APP 名录</a:t>
                </a:r>
                <a:br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与本周数据摸底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47" name="Line 47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4266" y="6592252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北京“铁人三项”从业者研究 · 与智慧足迹对接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10126980" cy="903922"/>
            <a:chOff x="594360" y="482918"/>
            <a:chExt cx="10126980" cy="90392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71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背景与研究问题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101269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全国底数已经做完，下一步从县域静态走到北京个体动态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1218" y="1517332"/>
            <a:ext cx="5569839" cy="322707"/>
            <a:chOff x="601218" y="1517332"/>
            <a:chExt cx="5569839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51733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起因：张所关心灵活就业，领导要求做就业数据系列研究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1312" y="2047875"/>
            <a:ext cx="7562088" cy="3252026"/>
            <a:chOff x="591312" y="2047875"/>
            <a:chExt cx="7562088" cy="3252026"/>
          </a:xfrm>
        </p:grpSpPr>
        <p:sp>
          <p:nvSpPr>
            <p:cNvPr id="8" name="Line 8"/>
            <p:cNvSpPr/>
            <p:nvPr/>
          </p:nvSpPr>
          <p:spPr>
            <a:xfrm>
              <a:off x="685800" y="2114550"/>
              <a:ext cx="7467600" cy="9525"/>
            </a:xfrm>
            <a:custGeom>
              <a:avLst/>
              <a:gdLst/>
              <a:ahLst/>
              <a:cxnLst/>
              <a:rect l="l" t="t" r="r" b="b"/>
              <a:pathLst>
                <a:path w="7467600" h="9525">
                  <a:moveTo>
                    <a:pt x="0" y="0"/>
                  </a:moveTo>
                  <a:lnTo>
                    <a:pt x="7467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91312" y="2047875"/>
              <a:ext cx="2297620" cy="3252026"/>
              <a:chOff x="591312" y="2047875"/>
              <a:chExt cx="2297620" cy="3252026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19125" y="2047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00456" y="2377440"/>
                <a:ext cx="22515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CMEP-2020 数据集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91312" y="2849880"/>
                <a:ext cx="115607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2989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02742" y="33975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个县级单元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01980" y="3838575"/>
                <a:ext cx="2286952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 个行业、7 个职业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官方口径 </a:t>
                </a:r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7.51 亿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就业人员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09600" y="4953000"/>
                <a:ext cx="2038350" cy="342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17042" y="50358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已投《中国科学数据》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182112" y="2047875"/>
              <a:ext cx="1965960" cy="3252026"/>
              <a:chOff x="3182112" y="2047875"/>
              <a:chExt cx="1965960" cy="325202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3209925" y="2047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191256" y="23774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就业职能标度论文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182112" y="2849880"/>
                <a:ext cx="115607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2189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193542" y="33975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个城镇单元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92780" y="3838575"/>
                <a:ext cx="19202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《规模与等级》：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标度律与行政等级溢价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200400" y="4953000"/>
                <a:ext cx="1695450" cy="342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307842" y="50358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已投《地理学报》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772912" y="2047875"/>
              <a:ext cx="2208276" cy="3252026"/>
              <a:chOff x="5772912" y="2047875"/>
              <a:chExt cx="2208276" cy="3252026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5800725" y="2047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782056" y="23774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个体经营型灵活就业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772912" y="2849880"/>
                <a:ext cx="1793367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1.71 亿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84342" y="3397568"/>
                <a:ext cx="18765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人，占非农就业 29.8%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783580" y="38385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全国县域测算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91200" y="4953000"/>
                <a:ext cx="609600" cy="342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898642" y="50358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在写</a:t>
                </a:r>
              </a:p>
            </p:txBody>
          </p:sp>
        </p:grpSp>
      </p:grpSp>
      <p:sp>
        <p:nvSpPr>
          <p:cNvPr id="34" name="Freeform 34"/>
          <p:cNvSpPr/>
          <p:nvPr/>
        </p:nvSpPr>
        <p:spPr>
          <a:xfrm>
            <a:off x="8267700" y="3543300"/>
            <a:ext cx="609600" cy="4191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8991600" y="1905000"/>
            <a:ext cx="2590800" cy="3810000"/>
            <a:chOff x="8991600" y="1905000"/>
            <a:chExt cx="2590800" cy="3810000"/>
          </a:xfrm>
        </p:grpSpPr>
        <p:sp>
          <p:nvSpPr>
            <p:cNvPr id="35" name="Rectangle 35"/>
            <p:cNvSpPr/>
            <p:nvPr/>
          </p:nvSpPr>
          <p:spPr>
            <a:xfrm>
              <a:off x="8991600" y="1905000"/>
              <a:ext cx="2590800" cy="38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9542" y="22545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84208" y="26174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北京个体动态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347501" y="3273731"/>
              <a:ext cx="278800" cy="308941"/>
              <a:chOff x="9347501" y="3273731"/>
              <a:chExt cx="278800" cy="30894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39275" y="3365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47501" y="3273731"/>
                <a:ext cx="278800" cy="308941"/>
              </a:xfrm>
              <a:custGeom>
                <a:avLst/>
                <a:gdLst/>
                <a:ahLst/>
                <a:cxnLst/>
                <a:rect l="l" t="t" r="r" b="b"/>
                <a:pathLst>
                  <a:path w="278800" h="308941">
                    <a:moveTo>
                      <a:pt x="229205" y="229200"/>
                    </a:moveTo>
                    <a:lnTo>
                      <a:pt x="161847" y="296557"/>
                    </a:lnTo>
                    <a:cubicBezTo>
                      <a:pt x="149451" y="308941"/>
                      <a:pt x="129365" y="308941"/>
                      <a:pt x="116968" y="296557"/>
                    </a:cubicBezTo>
                    <a:lnTo>
                      <a:pt x="49595" y="229200"/>
                    </a:lnTo>
                    <a:cubicBezTo>
                      <a:pt x="0" y="179602"/>
                      <a:pt x="1" y="99191"/>
                      <a:pt x="49598" y="49596"/>
                    </a:cubicBezTo>
                    <a:cubicBezTo>
                      <a:pt x="99194" y="0"/>
                      <a:pt x="179605" y="0"/>
                      <a:pt x="229202" y="49596"/>
                    </a:cubicBezTo>
                    <a:cubicBezTo>
                      <a:pt x="278798" y="99191"/>
                      <a:pt x="278800" y="179602"/>
                      <a:pt x="229205" y="229200"/>
                    </a:cubicBez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9886950" y="3286125"/>
              <a:ext cx="190500" cy="285751"/>
              <a:chOff x="9886950" y="3286125"/>
              <a:chExt cx="190500" cy="28575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886950" y="3286125"/>
                <a:ext cx="19050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8575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254001"/>
                    </a:lnTo>
                    <a:cubicBezTo>
                      <a:pt x="190500" y="271536"/>
                      <a:pt x="176285" y="285751"/>
                      <a:pt x="158750" y="285751"/>
                    </a:cubicBez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966325" y="3302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982200" y="35083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288780" y="3990975"/>
              <a:ext cx="134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用联通 DaaS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从个体角度识别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平台从业者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47" name="Line 47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4266" y="6592252"/>
              <a:ext cx="5678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来源：CMEP-2020 数据论文；《规模与等级》投稿稿；个体经营型灵活就业研究 V1.0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6185535" cy="1380172"/>
            <a:chOff x="594360" y="482918"/>
            <a:chExt cx="6185535" cy="138017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71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背景与研究问题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6185535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“铁人三项”是灵活就业的主力方向，</a:t>
              </a:r>
              <a:br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但没人知道他们从哪来、往哪去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905000"/>
            <a:ext cx="10972800" cy="762000"/>
            <a:chOff x="609600" y="1905000"/>
            <a:chExt cx="10972800" cy="762000"/>
          </a:xfrm>
        </p:grpSpPr>
        <p:sp>
          <p:nvSpPr>
            <p:cNvPr id="6" name="Rectangle 6"/>
            <p:cNvSpPr/>
            <p:nvPr/>
          </p:nvSpPr>
          <p:spPr>
            <a:xfrm>
              <a:off x="609600" y="190500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9950" y="2072640"/>
              <a:ext cx="1962404" cy="560261"/>
              <a:chOff x="869950" y="2072640"/>
              <a:chExt cx="1962404" cy="560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869950" y="2190750"/>
                <a:ext cx="317501" cy="206375"/>
                <a:chOff x="869950" y="2190750"/>
                <a:chExt cx="317501" cy="20637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869950" y="23018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092201" y="23018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33450" y="2254250"/>
                  <a:ext cx="166688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63500">
                      <a:moveTo>
                        <a:pt x="23813" y="63500"/>
                      </a:moveTo>
                      <a:lnTo>
                        <a:pt x="103188" y="63500"/>
                      </a:lnTo>
                      <a:lnTo>
                        <a:pt x="166688" y="0"/>
                      </a:lnTo>
                      <a:lnTo>
                        <a:pt x="0" y="0"/>
                      </a:lnTo>
                      <a:moveTo>
                        <a:pt x="23813" y="63500"/>
                      </a:moveTo>
                      <a:lnTo>
                        <a:pt x="87313" y="0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44575" y="2190750"/>
                  <a:ext cx="87313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3" h="111125">
                      <a:moveTo>
                        <a:pt x="0" y="0"/>
                      </a:moveTo>
                      <a:lnTo>
                        <a:pt x="31750" y="0"/>
                      </a:lnTo>
                      <a:lnTo>
                        <a:pt x="55563" y="47625"/>
                      </a:lnTo>
                      <a:lnTo>
                        <a:pt x="87313" y="111125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362456" y="20726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外卖骑手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64742" y="23688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含即时配送、跑腿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644900" y="2143125"/>
              <a:ext cx="1205992" cy="386334"/>
              <a:chOff x="3644900" y="2143125"/>
              <a:chExt cx="1205992" cy="386334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3644900" y="2143125"/>
                <a:ext cx="254001" cy="285751"/>
                <a:chOff x="3644900" y="2143125"/>
                <a:chExt cx="254001" cy="285751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644900" y="2143125"/>
                  <a:ext cx="25400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285751">
                      <a:moveTo>
                        <a:pt x="127000" y="0"/>
                      </a:moveTo>
                      <a:lnTo>
                        <a:pt x="254001" y="71438"/>
                      </a:lnTo>
                      <a:lnTo>
                        <a:pt x="254001" y="214313"/>
                      </a:lnTo>
                      <a:lnTo>
                        <a:pt x="127000" y="285751"/>
                      </a:lnTo>
                      <a:lnTo>
                        <a:pt x="0" y="214313"/>
                      </a:lnTo>
                      <a:lnTo>
                        <a:pt x="0" y="71438"/>
                      </a:lnTo>
                      <a:lnTo>
                        <a:pt x="127000" y="0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771900" y="2214563"/>
                  <a:ext cx="1270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8">
                      <a:moveTo>
                        <a:pt x="0" y="71438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771900" y="2286000"/>
                  <a:ext cx="95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">
                      <a:moveTo>
                        <a:pt x="0" y="0"/>
                      </a:moveTo>
                      <a:lnTo>
                        <a:pt x="0" y="142875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644900" y="2214563"/>
                  <a:ext cx="1270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8">
                      <a:moveTo>
                        <a:pt x="127000" y="714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708400" y="2178844"/>
                  <a:ext cx="1270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8">
                      <a:moveTo>
                        <a:pt x="127000" y="0"/>
                      </a:moveTo>
                      <a:lnTo>
                        <a:pt x="0" y="71438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105656" y="2177415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快递员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915025" y="2177415"/>
              <a:ext cx="1706499" cy="352044"/>
              <a:chOff x="5915025" y="2177415"/>
              <a:chExt cx="1706499" cy="352044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5915025" y="2190750"/>
                <a:ext cx="285751" cy="206375"/>
                <a:chOff x="5915025" y="2190750"/>
                <a:chExt cx="285751" cy="206375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5946775" y="23336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105525" y="23336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915025" y="2190750"/>
                  <a:ext cx="285751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74625">
                      <a:moveTo>
                        <a:pt x="31750" y="174625"/>
                      </a:moveTo>
                      <a:lnTo>
                        <a:pt x="0" y="174625"/>
                      </a:lnTo>
                      <a:lnTo>
                        <a:pt x="0" y="79375"/>
                      </a:lnTo>
                      <a:lnTo>
                        <a:pt x="31750" y="0"/>
                      </a:lnTo>
                      <a:lnTo>
                        <a:pt x="174625" y="0"/>
                      </a:lnTo>
                      <a:lnTo>
                        <a:pt x="238125" y="79375"/>
                      </a:lnTo>
                      <a:lnTo>
                        <a:pt x="254001" y="79375"/>
                      </a:lnTo>
                      <a:cubicBezTo>
                        <a:pt x="271536" y="79375"/>
                        <a:pt x="285751" y="93590"/>
                        <a:pt x="285751" y="111125"/>
                      </a:cubicBezTo>
                      <a:lnTo>
                        <a:pt x="285751" y="174625"/>
                      </a:lnTo>
                      <a:lnTo>
                        <a:pt x="254001" y="174625"/>
                      </a:lnTo>
                      <a:moveTo>
                        <a:pt x="190500" y="174625"/>
                      </a:moveTo>
                      <a:lnTo>
                        <a:pt x="95250" y="174625"/>
                      </a:lnTo>
                      <a:moveTo>
                        <a:pt x="0" y="79375"/>
                      </a:moveTo>
                      <a:lnTo>
                        <a:pt x="238125" y="79375"/>
                      </a:lnTo>
                      <a:moveTo>
                        <a:pt x="142875" y="79375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3175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6391656" y="217741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网约车司机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636000" y="2197100"/>
              <a:ext cx="2420620" cy="296545"/>
              <a:chOff x="8636000" y="2197100"/>
              <a:chExt cx="2420620" cy="296545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8636000" y="2197100"/>
                <a:ext cx="241299" cy="177800"/>
                <a:chOff x="8636000" y="2197100"/>
                <a:chExt cx="241299" cy="1778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674100" y="2324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801100" y="23241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636000" y="2197100"/>
                  <a:ext cx="241299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299" h="152400">
                      <a:moveTo>
                        <a:pt x="38100" y="152400"/>
                      </a:moveTo>
                      <a:lnTo>
                        <a:pt x="12700" y="152400"/>
                      </a:lnTo>
                      <a:lnTo>
                        <a:pt x="12700" y="101600"/>
                      </a:lnTo>
                      <a:moveTo>
                        <a:pt x="0" y="0"/>
                      </a:moveTo>
                      <a:lnTo>
                        <a:pt x="139700" y="0"/>
                      </a:lnTo>
                      <a:lnTo>
                        <a:pt x="139700" y="152400"/>
                      </a:lnTo>
                      <a:moveTo>
                        <a:pt x="88900" y="152400"/>
                      </a:moveTo>
                      <a:lnTo>
                        <a:pt x="165100" y="152400"/>
                      </a:lnTo>
                      <a:moveTo>
                        <a:pt x="215899" y="152400"/>
                      </a:moveTo>
                      <a:lnTo>
                        <a:pt x="241299" y="152400"/>
                      </a:lnTo>
                      <a:lnTo>
                        <a:pt x="241299" y="76200"/>
                      </a:lnTo>
                      <a:lnTo>
                        <a:pt x="139700" y="76200"/>
                      </a:lnTo>
                      <a:moveTo>
                        <a:pt x="139700" y="12700"/>
                      </a:moveTo>
                      <a:lnTo>
                        <a:pt x="203199" y="12700"/>
                      </a:lnTo>
                      <a:lnTo>
                        <a:pt x="241299" y="76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648700" y="22479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9022080" y="22002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补充类别：货运、代驾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628650" y="3009900"/>
            <a:ext cx="9323070" cy="3198495"/>
            <a:chOff x="628650" y="3009900"/>
            <a:chExt cx="9323070" cy="3198495"/>
          </a:xfrm>
        </p:grpSpPr>
        <p:grpSp>
          <p:nvGrpSpPr>
            <p:cNvPr id="41" name="Group 41"/>
            <p:cNvGrpSpPr/>
            <p:nvPr/>
          </p:nvGrpSpPr>
          <p:grpSpPr>
            <a:xfrm>
              <a:off x="628650" y="3009900"/>
              <a:ext cx="3065145" cy="950595"/>
              <a:chOff x="628650" y="3009900"/>
              <a:chExt cx="3065145" cy="950595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28650" y="30099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34173" y="3086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95756" y="30632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有多少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97280" y="3400425"/>
                <a:ext cx="259651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人数及 2019—2025 年的变化；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兼做两类以上的有多少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8650" y="4133850"/>
              <a:ext cx="4118610" cy="683895"/>
              <a:chOff x="628650" y="4133850"/>
              <a:chExt cx="4118610" cy="683895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28650" y="4133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34173" y="42100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95756" y="41871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是谁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97280" y="4524375"/>
                <a:ext cx="3649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年龄、性别、户籍来源、收入档，住在哪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8650" y="5257800"/>
              <a:ext cx="3150870" cy="950595"/>
              <a:chOff x="628650" y="5257800"/>
              <a:chExt cx="3150870" cy="950595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628650" y="52578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34173" y="53340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95756" y="53111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边跑边找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97280" y="5648325"/>
                <a:ext cx="2682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有多少人边跑单边找工作；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用蓝领、综合还是白领求职渠道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229350" y="3009900"/>
              <a:ext cx="3722370" cy="950595"/>
              <a:chOff x="6229350" y="3009900"/>
              <a:chExt cx="3722370" cy="950595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229350" y="30099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334873" y="30861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696456" y="30632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从哪来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697980" y="3400425"/>
                <a:ext cx="32537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进入前在工厂、写字楼、商业区上班，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没有固定工作，还是刚来北京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229350" y="4133850"/>
              <a:ext cx="3108960" cy="683895"/>
              <a:chOff x="6229350" y="4133850"/>
              <a:chExt cx="3108960" cy="683895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229350" y="4133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34873" y="42100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696456" y="418719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干多久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6979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能连续几个季度保持平台工作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229350" y="5257800"/>
              <a:ext cx="3150870" cy="950595"/>
              <a:chOff x="6229350" y="5257800"/>
              <a:chExt cx="3150870" cy="950595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6229350" y="52578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334873" y="533400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696456" y="53111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往哪去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697980" y="5648325"/>
                <a:ext cx="2682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回到固定岗位、转做别的平台、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无固定工作，还是离开北京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68" name="Line 68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4266" y="659225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“铁人三项”：网上对外卖、快递、网约车三类零工的通称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9723120" cy="903922"/>
            <a:chOff x="594360" y="482918"/>
            <a:chExt cx="9723120" cy="90392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71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背景与研究问题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9723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核心问题可检验：平台工作是跳板、缓冲垫，还是陷阱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2836" y="1676400"/>
            <a:ext cx="10989564" cy="3276600"/>
            <a:chOff x="592836" y="1676400"/>
            <a:chExt cx="10989564" cy="3276600"/>
          </a:xfrm>
        </p:grpSpPr>
        <p:sp>
          <p:nvSpPr>
            <p:cNvPr id="6" name="Line 6"/>
            <p:cNvSpPr/>
            <p:nvPr/>
          </p:nvSpPr>
          <p:spPr>
            <a:xfrm>
              <a:off x="4133850" y="18669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058150" y="18669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2836" y="1676400"/>
              <a:ext cx="3255264" cy="2506789"/>
              <a:chOff x="592836" y="1676400"/>
              <a:chExt cx="3255264" cy="2506789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1676400"/>
                <a:ext cx="3238500" cy="57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592836" y="1929765"/>
                <a:ext cx="922020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跳板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1218" y="254603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边跑边找，之后回到正式岗位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609600" y="302895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02742" y="32261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数据里会看到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01218" y="3555682"/>
                <a:ext cx="27409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跑单期间用求职 APP 的人，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下一期回到固定工作地的更多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402836" y="1676400"/>
              <a:ext cx="3369564" cy="2506789"/>
              <a:chOff x="4402836" y="1676400"/>
              <a:chExt cx="3369564" cy="2506789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419600" y="1676400"/>
                <a:ext cx="3352800" cy="57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402836" y="1929765"/>
                <a:ext cx="1366266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缓冲垫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411218" y="254603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失业后的临时收入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4419600" y="3028950"/>
                <a:ext cx="335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9525">
                    <a:moveTo>
                      <a:pt x="0" y="0"/>
                    </a:moveTo>
                    <a:lnTo>
                      <a:pt x="335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12742" y="32261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数据里会看到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11218" y="3555682"/>
                <a:ext cx="23218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进入前固定工作地消失，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短期跑单后退出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327136" y="1676400"/>
              <a:ext cx="3255264" cy="2506789"/>
              <a:chOff x="8327136" y="1676400"/>
              <a:chExt cx="3255264" cy="2506789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343900" y="1676400"/>
                <a:ext cx="3238500" cy="57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27136" y="1929765"/>
                <a:ext cx="922020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陷阱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35518" y="2546032"/>
                <a:ext cx="17937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跑得越久越回不去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343900" y="302895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337042" y="32261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数据里会看到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35518" y="3555682"/>
                <a:ext cx="23218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回到固定岗位的概率</a:t>
                </a:r>
                <a:br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随平台工作持续期数下降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09600" y="5372100"/>
            <a:ext cx="10972800" cy="685800"/>
            <a:chOff x="609600" y="5372100"/>
            <a:chExt cx="10972800" cy="685800"/>
          </a:xfrm>
        </p:grpSpPr>
        <p:sp>
          <p:nvSpPr>
            <p:cNvPr id="30" name="Rectangle 30"/>
            <p:cNvSpPr/>
            <p:nvPr/>
          </p:nvSpPr>
          <p:spPr>
            <a:xfrm>
              <a:off x="609600" y="53721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14400" y="5600700"/>
              <a:ext cx="228599" cy="228600"/>
              <a:chOff x="914400" y="5600700"/>
              <a:chExt cx="228599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39800" y="56007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14400" y="57531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79499" y="560235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04899" y="575500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324356" y="5606415"/>
              <a:ext cx="50584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再看：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 岁、45 岁以上的中年人是否更难回去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38" name="Line 38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266" y="6592252"/>
              <a:ext cx="2286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“数据里会看到”为本研究的检验思路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5364480" cy="1380172"/>
            <a:chOff x="594360" y="482918"/>
            <a:chExt cx="5364480" cy="138017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71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背景与研究问题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5364480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国内靠问卷、国外靠税务数据，</a:t>
              </a:r>
              <a:br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都看不到同一个人的完整轨迹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1312" y="1996440"/>
            <a:ext cx="5199888" cy="2929128"/>
            <a:chOff x="591312" y="1996440"/>
            <a:chExt cx="5199888" cy="2929128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996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国内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问卷、回忆式、单一平台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591312" y="2506980"/>
              <a:ext cx="3531108" cy="704088"/>
              <a:chOff x="591312" y="2506980"/>
              <a:chExt cx="3531108" cy="70408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91312" y="2506980"/>
                <a:ext cx="1537724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24.8%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202180" y="2600325"/>
                <a:ext cx="1920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美团研究院：当骑手前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在工厂打工</a:t>
                </a:r>
              </a:p>
            </p:txBody>
          </p:sp>
        </p:grpSp>
        <p:sp>
          <p:nvSpPr>
            <p:cNvPr id="11" name="Line 11"/>
            <p:cNvSpPr/>
            <p:nvPr/>
          </p:nvSpPr>
          <p:spPr>
            <a:xfrm>
              <a:off x="609600" y="32004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1312" y="3364230"/>
              <a:ext cx="4674108" cy="704088"/>
              <a:chOff x="591312" y="3364230"/>
              <a:chExt cx="4674108" cy="70408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91312" y="3364230"/>
                <a:ext cx="1537724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12.9%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202180" y="3457575"/>
                <a:ext cx="3063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孙萍《过渡劳动》：北京外卖员愿意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一直送；超八成打算两年内换工作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609600" y="40576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91312" y="4221480"/>
              <a:ext cx="3769233" cy="704088"/>
              <a:chOff x="591312" y="4221480"/>
              <a:chExt cx="3769233" cy="70408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91312" y="4221480"/>
                <a:ext cx="1360833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&lt;12</a:t>
                </a:r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个月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202180" y="4314825"/>
                <a:ext cx="21583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南开大学 4.1 万份调查：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平均从业时间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6096000" y="2000250"/>
            <a:ext cx="9525" cy="2914650"/>
            <a:chOff x="6096000" y="2000250"/>
            <a:chExt cx="9525" cy="2914650"/>
          </a:xfrm>
        </p:grpSpPr>
        <p:sp>
          <p:nvSpPr>
            <p:cNvPr id="20" name="Line 20"/>
            <p:cNvSpPr/>
            <p:nvPr/>
          </p:nvSpPr>
          <p:spPr>
            <a:xfrm>
              <a:off x="6096000" y="200025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391656" y="1996440"/>
            <a:ext cx="5190744" cy="2897505"/>
            <a:chOff x="6391656" y="1996440"/>
            <a:chExt cx="5190744" cy="2897505"/>
          </a:xfrm>
        </p:grpSpPr>
        <p:sp>
          <p:nvSpPr>
            <p:cNvPr id="22" name="TextBox 22"/>
            <p:cNvSpPr txBox="1"/>
            <p:nvPr/>
          </p:nvSpPr>
          <p:spPr>
            <a:xfrm>
              <a:off x="6391656" y="1996440"/>
              <a:ext cx="21183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国外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税务、财务数据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400800" y="23431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393180" y="2600325"/>
              <a:ext cx="3044190" cy="579120"/>
              <a:chOff x="6393180" y="2600325"/>
              <a:chExt cx="3044190" cy="57912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393180" y="2600325"/>
                <a:ext cx="13724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Koustas 2019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93180" y="2886075"/>
                <a:ext cx="30441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进入网约车前，收入和资产先下滑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6400800" y="32004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393180" y="3457575"/>
              <a:ext cx="3599021" cy="579120"/>
              <a:chOff x="6393180" y="3457575"/>
              <a:chExt cx="3599021" cy="57912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393180" y="3457575"/>
                <a:ext cx="11823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Fos 等 2019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393180" y="3743325"/>
                <a:ext cx="359902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Uber 进城后，被裁员工更少依赖失业金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400800" y="40576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393180" y="4314825"/>
              <a:ext cx="2842260" cy="579120"/>
              <a:chOff x="6393180" y="4314825"/>
              <a:chExt cx="2842260" cy="57912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393180" y="4314825"/>
                <a:ext cx="14095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Huang 等 2020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93180" y="460057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失业率上升，线上零工参与增加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09600" y="5181600"/>
            <a:ext cx="10972800" cy="1143000"/>
            <a:chOff x="609600" y="5181600"/>
            <a:chExt cx="109728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609600" y="5181600"/>
              <a:ext cx="109728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5256" y="54254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共同短板：</a:t>
              </a: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看不到退出后去了哪里，看不到求职和跨平台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542" y="5912168"/>
              <a:ext cx="9113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最接近的：Qiao 等 2023 用手机轨迹识别成都网约车司机居住地；波兰组用 APP 测平台从业者规模（预印本）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40" name="Line 40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266" y="6592252"/>
              <a:ext cx="8737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来源：美团研究院（2021）；孙萍《过渡劳动》（2024）；南开大学（2025）；Koustas（2019）；Fos 等（2019）；Huang 等（2020）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7103745" cy="1380172"/>
            <a:chOff x="594360" y="482918"/>
            <a:chExt cx="7103745" cy="138017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数据与方法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7103745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联通 DaaS 几张表就能拼出“用什么 APP、</a:t>
              </a:r>
              <a:br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住哪、在哪干活、户籍从哪来”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4050" y="1936432"/>
            <a:ext cx="3788394" cy="322707"/>
            <a:chOff x="654050" y="1936432"/>
            <a:chExt cx="3788394" cy="322707"/>
          </a:xfrm>
        </p:grpSpPr>
        <p:grpSp>
          <p:nvGrpSpPr>
            <p:cNvPr id="12" name="Group 12"/>
            <p:cNvGrpSpPr/>
            <p:nvPr/>
          </p:nvGrpSpPr>
          <p:grpSpPr>
            <a:xfrm>
              <a:off x="654050" y="1938338"/>
              <a:ext cx="177801" cy="200026"/>
              <a:chOff x="654050" y="1938338"/>
              <a:chExt cx="177801" cy="2000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54050" y="1960563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55575"/>
                    </a:lnTo>
                    <a:cubicBezTo>
                      <a:pt x="177801" y="167850"/>
                      <a:pt x="167850" y="177801"/>
                      <a:pt x="155575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87401" y="19383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98500" y="19383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54050" y="202723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1838" y="207168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42950" y="20716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82218" y="1936432"/>
              <a:ext cx="3460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北京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，每年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3、6、9、12 月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2324100"/>
            <a:ext cx="10972800" cy="3705225"/>
            <a:chOff x="609600" y="2324100"/>
            <a:chExt cx="10972800" cy="3705225"/>
          </a:xfrm>
        </p:grpSpPr>
        <p:sp>
          <p:nvSpPr>
            <p:cNvPr id="15" name="Rectangle 15"/>
            <p:cNvSpPr/>
            <p:nvPr/>
          </p:nvSpPr>
          <p:spPr>
            <a:xfrm>
              <a:off x="609600" y="232410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54380" y="2447925"/>
              <a:ext cx="8538210" cy="293370"/>
              <a:chOff x="754380" y="2447925"/>
              <a:chExt cx="8538210" cy="29337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54380" y="2447925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754630" y="24479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主要字段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69630" y="24479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用来回答</a:t>
                </a: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609600" y="3314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9600" y="4114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9600" y="4914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09600" y="5467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" y="6019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54380" y="2943225"/>
              <a:ext cx="1594837" cy="2998470"/>
              <a:chOff x="754380" y="2943225"/>
              <a:chExt cx="1594837" cy="299847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54380" y="2943225"/>
                <a:ext cx="9481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user_app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54380" y="3619500"/>
                <a:ext cx="15948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user_attribute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4380" y="4419600"/>
                <a:ext cx="8951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stay_poi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54380" y="5095875"/>
                <a:ext cx="126619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move_month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4380" y="5648325"/>
                <a:ext cx="13086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ss_city_grid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754630" y="2943225"/>
              <a:ext cx="8153400" cy="2998470"/>
              <a:chOff x="2754630" y="2943225"/>
              <a:chExt cx="8153400" cy="299847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2754630" y="2943225"/>
                <a:ext cx="4335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每人每月每个 APP 的使用时长（毫秒）与流量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754630" y="3486150"/>
                <a:ext cx="461581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年龄段、性别、身份证前 6 位、月通讯费、是否本地、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核心用户、扩样权重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54630" y="4286250"/>
                <a:ext cx="41300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月度停留点（ptype 1 居住、2 工作、0 其他）及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工作日白天、夜间停留时长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754630" y="50958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出行次数、距离、时长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754630" y="5648325"/>
                <a:ext cx="20244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250 米网格编号、区县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469630" y="2943225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识别平台工作、求职、兼职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469630" y="3619500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人群画像、户籍来源、扩样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469630" y="4419600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有无固定工作地、居住地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69630" y="5095875"/>
                <a:ext cx="165087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校验“在路上干活”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69630" y="564832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落到区县、街道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45" name="Line 45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4266" y="6592252"/>
              <a:ext cx="5164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来源：智慧足迹 DaaS 数据字典（daasbi，2018）；可用月份据双方数据合作安排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7026592" cy="1380172"/>
            <a:chOff x="594360" y="482918"/>
            <a:chExt cx="7026592" cy="138017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数据与方法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7026592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以工作端 APP 时长为主、停留行为为辅，</a:t>
              </a:r>
              <a:br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判定每期每个人的状态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" y="2057400"/>
            <a:ext cx="5283213" cy="2481834"/>
            <a:chOff x="628650" y="2057400"/>
            <a:chExt cx="5283213" cy="2481834"/>
          </a:xfrm>
        </p:grpSpPr>
        <p:sp>
          <p:nvSpPr>
            <p:cNvPr id="6" name="Line 6"/>
            <p:cNvSpPr/>
            <p:nvPr/>
          </p:nvSpPr>
          <p:spPr>
            <a:xfrm>
              <a:off x="819150" y="22479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28650" y="2057400"/>
              <a:ext cx="4953476" cy="1255395"/>
              <a:chOff x="628650" y="2057400"/>
              <a:chExt cx="4953476" cy="125539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28650" y="205740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3223" y="21526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71956" y="2129790"/>
                <a:ext cx="19033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看平台 APP 时长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73480" y="2486025"/>
                <a:ext cx="4408646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某类工作端 APP 当月使用 </a:t>
                </a:r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≥ 50 小时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平台从业者；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几类都满足取时长最多的一类，记为兼做；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敏感性：20、100 小时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8650" y="3352800"/>
              <a:ext cx="5283213" cy="721995"/>
              <a:chOff x="628650" y="3352800"/>
              <a:chExt cx="5283213" cy="72199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28650" y="335280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53223" y="34480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71956" y="34251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看固定工作地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3480" y="3781425"/>
                <a:ext cx="47383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有工作地且工作日白天停留 </a:t>
                </a:r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≥ 40 小时/月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→ 固定工作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28650" y="4114800"/>
              <a:ext cx="2550403" cy="424434"/>
              <a:chOff x="628650" y="4114800"/>
              <a:chExt cx="2550403" cy="42443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28650" y="411480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53223" y="4210050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71956" y="4187190"/>
                <a:ext cx="200709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其余 → 无固定工作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048500" y="1905000"/>
            <a:ext cx="4533900" cy="2819400"/>
            <a:chOff x="7048500" y="1905000"/>
            <a:chExt cx="4533900" cy="2819400"/>
          </a:xfrm>
        </p:grpSpPr>
        <p:sp>
          <p:nvSpPr>
            <p:cNvPr id="22" name="Rectangle 22"/>
            <p:cNvSpPr/>
            <p:nvPr/>
          </p:nvSpPr>
          <p:spPr>
            <a:xfrm>
              <a:off x="7048500" y="1905000"/>
              <a:ext cx="4533900" cy="2819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06056" y="20726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每期每人的状态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315200" y="2476500"/>
              <a:ext cx="4038600" cy="1874520"/>
              <a:chOff x="7315200" y="2476500"/>
              <a:chExt cx="4038600" cy="187452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315200" y="24765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315200" y="2476500"/>
                <a:ext cx="381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59980" y="2571750"/>
                <a:ext cx="1129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G1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外卖即配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7315200" y="29718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315200" y="2971800"/>
                <a:ext cx="381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459980" y="3067050"/>
                <a:ext cx="928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G2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网约车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315200" y="34671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7315200" y="3467100"/>
                <a:ext cx="381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59980" y="3562350"/>
                <a:ext cx="7261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G3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快递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7315200" y="39624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315200" y="3962400"/>
                <a:ext cx="381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459980" y="4057650"/>
                <a:ext cx="1129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G4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货运代驾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410700" y="24765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410700" y="2476500"/>
                <a:ext cx="38100" cy="381000"/>
              </a:xfrm>
              <a:prstGeom prst="rect">
                <a:avLst/>
              </a:prstGeom>
              <a:solidFill>
                <a:srgbClr val="5B6675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555480" y="2571750"/>
                <a:ext cx="10067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F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固定工作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410700" y="29718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9410700" y="2971800"/>
                <a:ext cx="38100" cy="381000"/>
              </a:xfrm>
              <a:prstGeom prst="rect">
                <a:avLst/>
              </a:prstGeom>
              <a:solidFill>
                <a:srgbClr val="5B6675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555480" y="3067050"/>
                <a:ext cx="12086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N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无固定工作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9410700" y="3467100"/>
                <a:ext cx="1943100" cy="38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9410700" y="3467100"/>
                <a:ext cx="38100" cy="381000"/>
              </a:xfrm>
              <a:prstGeom prst="rect">
                <a:avLst/>
              </a:prstGeom>
              <a:solidFill>
                <a:srgbClr val="5B6675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555480" y="3562350"/>
                <a:ext cx="12086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X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本期不在库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9403842" y="408336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 = 平台从业者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38175" y="5076825"/>
            <a:ext cx="9957187" cy="623126"/>
            <a:chOff x="638175" y="5076825"/>
            <a:chExt cx="9957187" cy="623126"/>
          </a:xfrm>
        </p:grpSpPr>
        <p:grpSp>
          <p:nvGrpSpPr>
            <p:cNvPr id="50" name="Group 50"/>
            <p:cNvGrpSpPr/>
            <p:nvPr/>
          </p:nvGrpSpPr>
          <p:grpSpPr>
            <a:xfrm>
              <a:off x="638175" y="5076825"/>
              <a:ext cx="171450" cy="171450"/>
              <a:chOff x="638175" y="5076825"/>
              <a:chExt cx="171450" cy="1714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38175" y="5076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52475" y="51911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45642" y="5093018"/>
              <a:ext cx="9649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求职渠道：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蓝领（58 找工作、斗米）· 综合（BOSS 直聘、智联、前程无忧）· 白领（拉勾、猎聘、脉脉、LinkedIn）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638175" y="5419725"/>
              <a:ext cx="171450" cy="171450"/>
              <a:chOff x="638175" y="5419725"/>
              <a:chExt cx="171450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38175" y="55530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1525" y="54197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7225" y="543877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45642" y="5435918"/>
              <a:ext cx="6155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行为校验：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重度工作端 APP 用户应停留点多、无固定工作地、出行时长长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5848350"/>
            <a:ext cx="10972800" cy="495300"/>
            <a:chOff x="609600" y="5848350"/>
            <a:chExt cx="10972800" cy="495300"/>
          </a:xfrm>
        </p:grpSpPr>
        <p:sp>
          <p:nvSpPr>
            <p:cNvPr id="58" name="Rectangle 58"/>
            <p:cNvSpPr/>
            <p:nvPr/>
          </p:nvSpPr>
          <p:spPr>
            <a:xfrm>
              <a:off x="609600" y="5848350"/>
              <a:ext cx="10972800" cy="495300"/>
            </a:xfrm>
            <a:prstGeom prst="rect">
              <a:avLst/>
            </a:prstGeom>
            <a:solidFill>
              <a:srgbClr val="FCF3D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9600" y="5848350"/>
              <a:ext cx="5715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1538" y="5995988"/>
              <a:ext cx="200026" cy="200026"/>
              <a:chOff x="871538" y="5995988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153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7155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54882" y="60604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10818" y="5994082"/>
              <a:ext cx="6958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想请教：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你们专利里用“流量 + 时长”识别平台从业者的思路和阈值经验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66" name="Line 66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4266" y="65922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阈值为初稿，待数据摸底（时长分布、行为校验）后定稿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6525578" cy="1380172"/>
            <a:chOff x="594360" y="482918"/>
            <a:chExt cx="6525578" cy="138017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数据与方法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6525578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旧名录已找到主要工作端和求职 APP，</a:t>
              </a:r>
              <a:br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新平台和快递作业端还要确认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1980" y="1990725"/>
            <a:ext cx="6979920" cy="3811714"/>
            <a:chOff x="601980" y="1990725"/>
            <a:chExt cx="6979920" cy="3811714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990725"/>
              <a:ext cx="5578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已找到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旧名录约 2018—2020 年（里面还有摩拜、虾米音乐）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24100"/>
              <a:ext cx="6972300" cy="9525"/>
            </a:xfrm>
            <a:custGeom>
              <a:avLst/>
              <a:gdLst/>
              <a:ahLst/>
              <a:cxnLst/>
              <a:rect l="l" t="t" r="r" b="b"/>
              <a:pathLst>
                <a:path w="6972300" h="9525">
                  <a:moveTo>
                    <a:pt x="0" y="0"/>
                  </a:moveTo>
                  <a:lnTo>
                    <a:pt x="69723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31825" y="2526982"/>
              <a:ext cx="5166995" cy="576263"/>
              <a:chOff x="631825" y="2526982"/>
              <a:chExt cx="5166995" cy="576263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631825" y="2562225"/>
                <a:ext cx="222251" cy="144463"/>
                <a:chOff x="631825" y="2562225"/>
                <a:chExt cx="222251" cy="144463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631825" y="2640013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787401" y="2640013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676275" y="2606675"/>
                  <a:ext cx="11668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82" h="44450">
                      <a:moveTo>
                        <a:pt x="16669" y="44450"/>
                      </a:moveTo>
                      <a:lnTo>
                        <a:pt x="72231" y="44450"/>
                      </a:lnTo>
                      <a:lnTo>
                        <a:pt x="116682" y="0"/>
                      </a:lnTo>
                      <a:lnTo>
                        <a:pt x="0" y="0"/>
                      </a:lnTo>
                      <a:moveTo>
                        <a:pt x="16669" y="44450"/>
                      </a:moveTo>
                      <a:lnTo>
                        <a:pt x="61119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54063" y="2562225"/>
                  <a:ext cx="61119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77788">
                      <a:moveTo>
                        <a:pt x="0" y="0"/>
                      </a:moveTo>
                      <a:lnTo>
                        <a:pt x="22225" y="0"/>
                      </a:lnTo>
                      <a:lnTo>
                        <a:pt x="38894" y="33338"/>
                      </a:lnTo>
                      <a:lnTo>
                        <a:pt x="61119" y="77788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982218" y="252698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骑手端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73580" y="2543175"/>
                <a:ext cx="3825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美团骑手、达达骑士版、顺丰骑士、闪送员、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点我达骑手、UU 跑腿跑男端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609600" y="3143250"/>
              <a:ext cx="6972300" cy="9525"/>
            </a:xfrm>
            <a:custGeom>
              <a:avLst/>
              <a:gdLst/>
              <a:ahLst/>
              <a:cxnLst/>
              <a:rect l="l" t="t" r="r" b="b"/>
              <a:pathLst>
                <a:path w="6972300" h="9525">
                  <a:moveTo>
                    <a:pt x="0" y="0"/>
                  </a:moveTo>
                  <a:lnTo>
                    <a:pt x="697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2938" y="3327082"/>
              <a:ext cx="5727382" cy="576263"/>
              <a:chOff x="642938" y="3327082"/>
              <a:chExt cx="5727382" cy="576263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642938" y="3362325"/>
                <a:ext cx="200026" cy="144463"/>
                <a:chOff x="642938" y="3362325"/>
                <a:chExt cx="200026" cy="144463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665163" y="34623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76288" y="34623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42938" y="3362325"/>
                  <a:ext cx="200026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22238">
                      <a:moveTo>
                        <a:pt x="22225" y="122238"/>
                      </a:moveTo>
                      <a:lnTo>
                        <a:pt x="0" y="122238"/>
                      </a:lnTo>
                      <a:lnTo>
                        <a:pt x="0" y="55563"/>
                      </a:lnTo>
                      <a:lnTo>
                        <a:pt x="22225" y="0"/>
                      </a:lnTo>
                      <a:lnTo>
                        <a:pt x="122238" y="0"/>
                      </a:lnTo>
                      <a:lnTo>
                        <a:pt x="166688" y="55563"/>
                      </a:lnTo>
                      <a:lnTo>
                        <a:pt x="177801" y="55563"/>
                      </a:lnTo>
                      <a:cubicBezTo>
                        <a:pt x="190075" y="55563"/>
                        <a:pt x="200026" y="65513"/>
                        <a:pt x="200026" y="77788"/>
                      </a:cubicBezTo>
                      <a:lnTo>
                        <a:pt x="200026" y="122238"/>
                      </a:lnTo>
                      <a:lnTo>
                        <a:pt x="177801" y="122238"/>
                      </a:lnTo>
                      <a:moveTo>
                        <a:pt x="133350" y="122238"/>
                      </a:moveTo>
                      <a:lnTo>
                        <a:pt x="66675" y="122238"/>
                      </a:lnTo>
                      <a:moveTo>
                        <a:pt x="0" y="55563"/>
                      </a:moveTo>
                      <a:lnTo>
                        <a:pt x="166688" y="55563"/>
                      </a:lnTo>
                      <a:moveTo>
                        <a:pt x="100013" y="55563"/>
                      </a:moveTo>
                      <a:lnTo>
                        <a:pt x="100013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982218" y="332708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司机端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973580" y="3343275"/>
                <a:ext cx="43967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滴滴车主、美团打车司机端、首约司机、曹操司机、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花小猪司机端、嘀嗒出租司机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609600" y="3943350"/>
              <a:ext cx="6972300" cy="9525"/>
            </a:xfrm>
            <a:custGeom>
              <a:avLst/>
              <a:gdLst/>
              <a:ahLst/>
              <a:cxnLst/>
              <a:rect l="l" t="t" r="r" b="b"/>
              <a:pathLst>
                <a:path w="6972300" h="9525">
                  <a:moveTo>
                    <a:pt x="0" y="0"/>
                  </a:moveTo>
                  <a:lnTo>
                    <a:pt x="697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31825" y="4127182"/>
              <a:ext cx="5193665" cy="322707"/>
              <a:chOff x="631825" y="4127182"/>
              <a:chExt cx="5193665" cy="322707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631825" y="4151313"/>
                <a:ext cx="211138" cy="155575"/>
                <a:chOff x="631825" y="4151313"/>
                <a:chExt cx="211138" cy="15557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163" y="42624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76288" y="42624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31825" y="4151313"/>
                  <a:ext cx="2111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38" h="133350">
                      <a:moveTo>
                        <a:pt x="33338" y="133350"/>
                      </a:moveTo>
                      <a:lnTo>
                        <a:pt x="11113" y="133350"/>
                      </a:lnTo>
                      <a:lnTo>
                        <a:pt x="11113" y="88900"/>
                      </a:lnTo>
                      <a:moveTo>
                        <a:pt x="0" y="0"/>
                      </a:moveTo>
                      <a:lnTo>
                        <a:pt x="122238" y="0"/>
                      </a:lnTo>
                      <a:lnTo>
                        <a:pt x="122238" y="133350"/>
                      </a:lnTo>
                      <a:moveTo>
                        <a:pt x="77788" y="133350"/>
                      </a:moveTo>
                      <a:lnTo>
                        <a:pt x="144463" y="133350"/>
                      </a:lnTo>
                      <a:moveTo>
                        <a:pt x="188913" y="133350"/>
                      </a:moveTo>
                      <a:lnTo>
                        <a:pt x="211138" y="133350"/>
                      </a:lnTo>
                      <a:lnTo>
                        <a:pt x="211138" y="66675"/>
                      </a:lnTo>
                      <a:lnTo>
                        <a:pt x="122238" y="66675"/>
                      </a:lnTo>
                      <a:moveTo>
                        <a:pt x="122238" y="11113"/>
                      </a:moveTo>
                      <a:lnTo>
                        <a:pt x="177801" y="11113"/>
                      </a:lnTo>
                      <a:lnTo>
                        <a:pt x="211138" y="6667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42938" y="4195763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982218" y="41271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货运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973580" y="4143375"/>
                <a:ext cx="38519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货拉拉司机版、快狗打车车主、运满满司机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609600" y="4495800"/>
              <a:ext cx="6972300" cy="9525"/>
            </a:xfrm>
            <a:custGeom>
              <a:avLst/>
              <a:gdLst/>
              <a:ahLst/>
              <a:cxnLst/>
              <a:rect l="l" t="t" r="r" b="b"/>
              <a:pathLst>
                <a:path w="6972300" h="9525">
                  <a:moveTo>
                    <a:pt x="0" y="0"/>
                  </a:moveTo>
                  <a:lnTo>
                    <a:pt x="697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2938" y="4679632"/>
              <a:ext cx="5936932" cy="576263"/>
              <a:chOff x="642938" y="4679632"/>
              <a:chExt cx="5936932" cy="576263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42938" y="4681538"/>
                <a:ext cx="200026" cy="188913"/>
                <a:chOff x="642938" y="4681538"/>
                <a:chExt cx="200026" cy="188913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42938" y="4725988"/>
                  <a:ext cx="200026" cy="144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44463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77801" y="0"/>
                      </a:lnTo>
                      <a:cubicBezTo>
                        <a:pt x="190075" y="0"/>
                        <a:pt x="200026" y="9950"/>
                        <a:pt x="200026" y="22225"/>
                      </a:cubicBezTo>
                      <a:lnTo>
                        <a:pt x="200026" y="122238"/>
                      </a:lnTo>
                      <a:cubicBezTo>
                        <a:pt x="200026" y="134512"/>
                        <a:pt x="190075" y="144463"/>
                        <a:pt x="177801" y="144463"/>
                      </a:cubicBezTo>
                      <a:lnTo>
                        <a:pt x="22225" y="144463"/>
                      </a:lnTo>
                      <a:cubicBezTo>
                        <a:pt x="9950" y="144463"/>
                        <a:pt x="0" y="134512"/>
                        <a:pt x="0" y="122238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98500" y="4681538"/>
                  <a:ext cx="889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44450">
                      <a:moveTo>
                        <a:pt x="0" y="44450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66675" y="0"/>
                      </a:lnTo>
                      <a:cubicBezTo>
                        <a:pt x="78950" y="0"/>
                        <a:pt x="88900" y="9950"/>
                        <a:pt x="88900" y="22225"/>
                      </a:cubicBezTo>
                      <a:lnTo>
                        <a:pt x="88900" y="4445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42950" y="47815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2938" y="4792663"/>
                  <a:ext cx="200026" cy="31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31699">
                      <a:moveTo>
                        <a:pt x="0" y="0"/>
                      </a:moveTo>
                      <a:cubicBezTo>
                        <a:pt x="62908" y="31699"/>
                        <a:pt x="137118" y="31699"/>
                        <a:pt x="200026" y="0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82218" y="46796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求职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973580" y="4695825"/>
                <a:ext cx="460629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BOSS 直聘、智联招聘、前程无忧、58 找工作、斗米、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拉勾、猎聘、脉脉、LinkedIn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609600" y="5295900"/>
              <a:ext cx="6972300" cy="9525"/>
            </a:xfrm>
            <a:custGeom>
              <a:avLst/>
              <a:gdLst/>
              <a:ahLst/>
              <a:cxnLst/>
              <a:rect l="l" t="t" r="r" b="b"/>
              <a:pathLst>
                <a:path w="6972300" h="9525">
                  <a:moveTo>
                    <a:pt x="0" y="0"/>
                  </a:moveTo>
                  <a:lnTo>
                    <a:pt x="697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2938" y="5479732"/>
              <a:ext cx="3769042" cy="322707"/>
              <a:chOff x="642938" y="5479732"/>
              <a:chExt cx="3769042" cy="322707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642938" y="5481638"/>
                <a:ext cx="200026" cy="200026"/>
                <a:chOff x="642938" y="5481638"/>
                <a:chExt cx="200026" cy="200026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42938" y="5481638"/>
                  <a:ext cx="200026" cy="200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200026">
                      <a:moveTo>
                        <a:pt x="0" y="100013"/>
                      </a:moveTo>
                      <a:cubicBezTo>
                        <a:pt x="0" y="155248"/>
                        <a:pt x="44777" y="200026"/>
                        <a:pt x="100013" y="200026"/>
                      </a:cubicBezTo>
                      <a:cubicBezTo>
                        <a:pt x="155248" y="200026"/>
                        <a:pt x="200026" y="155248"/>
                        <a:pt x="200026" y="100013"/>
                      </a:cubicBezTo>
                      <a:cubicBezTo>
                        <a:pt x="200026" y="44777"/>
                        <a:pt x="155248" y="0"/>
                        <a:pt x="100013" y="0"/>
                      </a:cubicBezTo>
                      <a:cubicBezTo>
                        <a:pt x="44777" y="0"/>
                        <a:pt x="0" y="44777"/>
                        <a:pt x="0" y="100013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42950" y="5526088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0"/>
                      </a:moveTo>
                      <a:lnTo>
                        <a:pt x="0" y="55563"/>
                      </a:lnTo>
                      <a:lnTo>
                        <a:pt x="33338" y="8890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982218" y="54797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兼职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73580" y="5495925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兼职猫、口袋兼职、青团社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7924800" y="1943100"/>
            <a:ext cx="3657600" cy="4076700"/>
            <a:chOff x="7924800" y="1943100"/>
            <a:chExt cx="3657600" cy="4076700"/>
          </a:xfrm>
        </p:grpSpPr>
        <p:sp>
          <p:nvSpPr>
            <p:cNvPr id="50" name="Rectangle 50"/>
            <p:cNvSpPr/>
            <p:nvPr/>
          </p:nvSpPr>
          <p:spPr>
            <a:xfrm>
              <a:off x="7924800" y="1943100"/>
              <a:ext cx="3657600" cy="4076700"/>
            </a:xfrm>
            <a:prstGeom prst="rect">
              <a:avLst/>
            </a:prstGeom>
            <a:solidFill>
              <a:srgbClr val="FCF3D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24800" y="1943100"/>
              <a:ext cx="36576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215819" y="2262731"/>
              <a:ext cx="256151" cy="220068"/>
              <a:chOff x="8215819" y="2262731"/>
              <a:chExt cx="256151" cy="22006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43900" y="23431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15819" y="226273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43900" y="24320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601456" y="22726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待确认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8183880" y="2790825"/>
              <a:ext cx="2301240" cy="845820"/>
              <a:chOff x="8183880" y="2790825"/>
              <a:chExt cx="2301240" cy="845820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8183880" y="27908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新平台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83880" y="3076575"/>
                <a:ext cx="2301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京东秒送骑手、美团众包、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蜂鸟众包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183880" y="3838575"/>
              <a:ext cx="2236470" cy="579120"/>
              <a:chOff x="8183880" y="3838575"/>
              <a:chExt cx="2236470" cy="579120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8183880" y="3838575"/>
                <a:ext cx="17322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快递公司作业 APP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183880" y="4124325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中通、圆通、京东小哥等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183880" y="4619625"/>
              <a:ext cx="1832610" cy="579120"/>
              <a:chOff x="8183880" y="4619625"/>
              <a:chExt cx="1832610" cy="579120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183880" y="46196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专业接单平台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83880" y="49053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猪八戒、程序员客栈</a:t>
                </a:r>
              </a:p>
            </p:txBody>
          </p:sp>
        </p:grpSp>
        <p:sp>
          <p:nvSpPr>
            <p:cNvPr id="66" name="Line 66"/>
            <p:cNvSpPr/>
            <p:nvPr/>
          </p:nvSpPr>
          <p:spPr>
            <a:xfrm>
              <a:off x="8191500" y="53530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183118" y="5536882"/>
              <a:ext cx="21888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需要新版 APP 名录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69" name="Line 69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4266" y="6592252"/>
              <a:ext cx="2736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来源：联通 APP 使用名录（旧版汇总表）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10976486" cy="903922"/>
            <a:chOff x="594360" y="482918"/>
            <a:chExt cx="10976486" cy="90392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· 数据与方法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109764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四步 SQL 已写好并验证：uid 只在系统内建表，只导出汇总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09600" y="1600200"/>
            <a:ext cx="2952750" cy="91440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3181350" y="1600200"/>
            <a:ext cx="2952750" cy="914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53100" y="1600200"/>
            <a:ext cx="2952750" cy="914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324850" y="1600200"/>
            <a:ext cx="2952750" cy="914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1271222" y="1948815"/>
            <a:ext cx="9201882" cy="352044"/>
            <a:chOff x="1271222" y="1948815"/>
            <a:chExt cx="9201882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1271222" y="194881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00</a:t>
              </a: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数据摸底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07005" y="1948815"/>
              <a:ext cx="1101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状态表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57597" y="194881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截面汇总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29347" y="194881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转移汇总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180" y="2752725"/>
            <a:ext cx="10168890" cy="1436370"/>
            <a:chOff x="678180" y="2752725"/>
            <a:chExt cx="10168890" cy="1436370"/>
          </a:xfrm>
        </p:grpSpPr>
        <p:sp>
          <p:nvSpPr>
            <p:cNvPr id="15" name="TextBox 15"/>
            <p:cNvSpPr txBox="1"/>
            <p:nvPr/>
          </p:nvSpPr>
          <p:spPr>
            <a:xfrm>
              <a:off x="678180" y="2752725"/>
              <a:ext cx="22440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月份覆盖、uid 能否跨期、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名录、时长分布、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行为校验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02330" y="2752725"/>
              <a:ext cx="1920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每期每人：属性、四类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平台时长、求职渠道、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停留出行、居住与工作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网格、状态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74080" y="2752725"/>
              <a:ext cx="21678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每期按状态 × 年龄 × 户籍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× 求职渠道 × 区县汇总，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拼成全期面板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45830" y="2752725"/>
              <a:ext cx="2301240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相邻期转移；从业段（从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哪来、干多久、往哪去）；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人期表；进入和退出前后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 4 期轨迹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78180" y="3895725"/>
              <a:ext cx="8827418" cy="293370"/>
              <a:chOff x="678180" y="3895725"/>
              <a:chExt cx="8827418" cy="29337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78180" y="3895725"/>
                <a:ext cx="9814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→ 6 张小表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402330" y="3895725"/>
                <a:ext cx="11834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→ 5 张检查表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74080" y="3895725"/>
                <a:ext cx="22132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→ 每期 10 张、趋势 5 张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45830" y="3895725"/>
                <a:ext cx="959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→ 约 20 张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09600" y="4343400"/>
            <a:ext cx="6324600" cy="1981200"/>
            <a:chOff x="609600" y="4343400"/>
            <a:chExt cx="6324600" cy="1981200"/>
          </a:xfrm>
        </p:grpSpPr>
        <p:sp>
          <p:nvSpPr>
            <p:cNvPr id="25" name="Rectangle 25"/>
            <p:cNvSpPr/>
            <p:nvPr/>
          </p:nvSpPr>
          <p:spPr>
            <a:xfrm>
              <a:off x="609600" y="4343400"/>
              <a:ext cx="6324600" cy="198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93763" y="4529138"/>
              <a:ext cx="155575" cy="200025"/>
              <a:chOff x="893763" y="4529138"/>
              <a:chExt cx="155575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93763" y="461803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60438" y="4662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27100" y="45291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8890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10056" y="4511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合规设计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30580" y="4886325"/>
              <a:ext cx="4689272" cy="1436370"/>
              <a:chOff x="830580" y="4886325"/>
              <a:chExt cx="4689272" cy="143637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30580" y="4886325"/>
                <a:ext cx="46892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含 uid 的语句一律 </a:t>
                </a:r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CREATE TABLE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，只留在系统内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0580" y="5172075"/>
                <a:ext cx="422434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导出结果不含 uid，uid 只出现在 </a:t>
                </a:r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count()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里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0580" y="5457825"/>
                <a:ext cx="41753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每张导出 ≤ 1 万行（实际最大约 5300 行），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2980" y="574357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少于 15 人显示“≤15”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0580" y="6029325"/>
                <a:ext cx="37240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不能 drop：中间表带 </a:t>
                </a:r>
                <a:r>
                  <a:rPr lang="zh-CN" sz="15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_v1、_v2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版本号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220712" y="4511040"/>
            <a:ext cx="4361688" cy="2014728"/>
            <a:chOff x="7220712" y="4511040"/>
            <a:chExt cx="4361688" cy="2014728"/>
          </a:xfrm>
        </p:grpSpPr>
        <p:grpSp>
          <p:nvGrpSpPr>
            <p:cNvPr id="40" name="Group 40"/>
            <p:cNvGrpSpPr/>
            <p:nvPr/>
          </p:nvGrpSpPr>
          <p:grpSpPr>
            <a:xfrm>
              <a:off x="7272338" y="4529138"/>
              <a:ext cx="200026" cy="200026"/>
              <a:chOff x="7272338" y="452913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272338" y="4529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339013" y="46069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610856" y="4511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验证结果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220712" y="4964430"/>
              <a:ext cx="3995152" cy="704088"/>
              <a:chOff x="7220712" y="4964430"/>
              <a:chExt cx="3995152" cy="704088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7220712" y="496443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95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955280" y="49815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条语句全部合规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956042" y="5245418"/>
                <a:ext cx="32598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个 SQL 文件；Hive / Spark 语法通过</a:t>
                </a:r>
              </a:p>
            </p:txBody>
          </p:sp>
        </p:grpSp>
        <p:sp>
          <p:nvSpPr>
            <p:cNvPr id="46" name="Line 46"/>
            <p:cNvSpPr/>
            <p:nvPr/>
          </p:nvSpPr>
          <p:spPr>
            <a:xfrm>
              <a:off x="7239000" y="56007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20712" y="5821680"/>
              <a:ext cx="3199638" cy="704088"/>
              <a:chOff x="7220712" y="5821680"/>
              <a:chExt cx="3199638" cy="704088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7220712" y="582168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886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83880" y="5838825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个从业段与独立计算一致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84642" y="6102668"/>
                <a:ext cx="21036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02、03 步用模拟数据测试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52" name="Line 52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4266" y="6592252"/>
              <a:ext cx="6481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文件：00_数据摸底 · 01_状态表 · 02_截面汇总 · 03_转移汇总（尚未在 DaaS 平台实际运行）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7179945" cy="1380172"/>
            <a:chOff x="594360" y="482918"/>
            <a:chExt cx="7179945" cy="138017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成果与对接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7179945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两篇主稿一条时间线：</a:t>
              </a:r>
              <a:br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中文核心 2027 年 2 月，SCI 2027 年 7 月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2381250"/>
            <a:ext cx="10972800" cy="2847975"/>
            <a:chOff x="609600" y="2381250"/>
            <a:chExt cx="10972800" cy="2847975"/>
          </a:xfrm>
        </p:grpSpPr>
        <p:sp>
          <p:nvSpPr>
            <p:cNvPr id="6" name="Rectangle 6"/>
            <p:cNvSpPr/>
            <p:nvPr/>
          </p:nvSpPr>
          <p:spPr>
            <a:xfrm>
              <a:off x="609600" y="238125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238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281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4380" y="2505075"/>
              <a:ext cx="9944100" cy="293370"/>
              <a:chOff x="754380" y="2505075"/>
              <a:chExt cx="9944100" cy="29337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54380" y="25050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论文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002280" y="25050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内容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36080" y="25050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目标期刊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279380" y="25050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时间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609600" y="3619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54380" y="3124200"/>
              <a:ext cx="1810903" cy="1893570"/>
              <a:chOff x="754380" y="3124200"/>
              <a:chExt cx="1810903" cy="189357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54380" y="3124200"/>
                <a:ext cx="18109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论文 1（中文核心）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4380" y="3924300"/>
                <a:ext cx="13727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论文 2（SCI）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4380" y="4724400"/>
                <a:ext cx="14070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论文 3（可选）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002280" y="2981325"/>
              <a:ext cx="8534210" cy="2160270"/>
              <a:chOff x="3002280" y="2981325"/>
              <a:chExt cx="8534210" cy="216027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3002280" y="2981325"/>
                <a:ext cx="2682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北京平台劳动者的规模、构成与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求职行为（2019—2025）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002280" y="3781425"/>
                <a:ext cx="21107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季度追踪：跳板、缓冲垫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还是陷阱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002280" y="4581525"/>
                <a:ext cx="220599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2025 年外卖大战冲击下的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进入与切换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36080" y="2981325"/>
                <a:ext cx="2682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《人口研究》《人口与经济》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《地理研究》《城市规划学刊》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36080" y="3781425"/>
                <a:ext cx="277749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Urban Studies、EPA、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China Economic Review、Cities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736080" y="4581525"/>
                <a:ext cx="224409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China Economic Review、</a:t>
                </a:r>
                <a:br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Transport Policy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279380" y="3124200"/>
                <a:ext cx="12571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2027-02 投稿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279380" y="3924300"/>
                <a:ext cx="12571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2027-07 投稿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279380" y="4724400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2027 下半年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09600" y="5543550"/>
            <a:ext cx="5431155" cy="723900"/>
            <a:chOff x="609600" y="5543550"/>
            <a:chExt cx="5431155" cy="723900"/>
          </a:xfrm>
        </p:grpSpPr>
        <p:sp>
          <p:nvSpPr>
            <p:cNvPr id="32" name="Rectangle 32"/>
            <p:cNvSpPr/>
            <p:nvPr/>
          </p:nvSpPr>
          <p:spPr>
            <a:xfrm>
              <a:off x="609600" y="5543550"/>
              <a:ext cx="57150" cy="72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62025" y="5762625"/>
              <a:ext cx="285751" cy="285751"/>
              <a:chOff x="962025" y="5762625"/>
              <a:chExt cx="285751" cy="28575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93775" y="5762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2025" y="5953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68401" y="5764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00151" y="5955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474470" y="5767388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对你：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共同署名，可服务博士研究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40" name="Line 40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266" y="6592252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北京“铁人三项”从业者研究 · 与智慧足迹对接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10189512" cy="903922"/>
            <a:chOff x="594360" y="482918"/>
            <a:chExt cx="10189512" cy="90392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成果与对接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101895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十个问题里，新版 APP 名录和 uid 能否跨期追踪最关键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38300"/>
            <a:ext cx="5295900" cy="899351"/>
            <a:chOff x="609600" y="1638300"/>
            <a:chExt cx="5295900" cy="899351"/>
          </a:xfrm>
        </p:grpSpPr>
        <p:sp>
          <p:nvSpPr>
            <p:cNvPr id="6" name="Rectangle 6"/>
            <p:cNvSpPr/>
            <p:nvPr/>
          </p:nvSpPr>
          <p:spPr>
            <a:xfrm>
              <a:off x="609600" y="1638300"/>
              <a:ext cx="5295900" cy="876300"/>
            </a:xfrm>
            <a:prstGeom prst="rect">
              <a:avLst/>
            </a:prstGeom>
            <a:solidFill>
              <a:srgbClr val="FCF3D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04850" y="17526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373" y="18288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3480" y="1828800"/>
              <a:ext cx="4244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新版 APP 名录与上网标签码表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近两年北京的 APP 名称、标签和用户数（≥15 人）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82768" y="2273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4850" y="2686050"/>
            <a:ext cx="4112895" cy="836295"/>
            <a:chOff x="704850" y="2686050"/>
            <a:chExt cx="4112895" cy="836295"/>
          </a:xfrm>
        </p:grpSpPr>
        <p:sp>
          <p:nvSpPr>
            <p:cNvPr id="12" name="Ellipse 12"/>
            <p:cNvSpPr/>
            <p:nvPr/>
          </p:nvSpPr>
          <p:spPr>
            <a:xfrm>
              <a:off x="704850" y="26860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0373" y="2762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3480" y="2695575"/>
              <a:ext cx="36442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user_app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历年 3、6、9、12 月是否都有？</a:t>
              </a:r>
              <a:br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ltime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lflux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口径有没有变过？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是否只统计蜂窝流量（Wi-Fi 看不到）？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505200"/>
            <a:ext cx="5295900" cy="899351"/>
            <a:chOff x="609600" y="3505200"/>
            <a:chExt cx="5295900" cy="899351"/>
          </a:xfrm>
        </p:grpSpPr>
        <p:sp>
          <p:nvSpPr>
            <p:cNvPr id="16" name="Rectangle 16"/>
            <p:cNvSpPr/>
            <p:nvPr/>
          </p:nvSpPr>
          <p:spPr>
            <a:xfrm>
              <a:off x="609600" y="3505200"/>
              <a:ext cx="5295900" cy="876300"/>
            </a:xfrm>
            <a:prstGeom prst="rect">
              <a:avLst/>
            </a:prstGeom>
            <a:solidFill>
              <a:srgbClr val="FCF3D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3619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037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3480" y="3695700"/>
              <a:ext cx="226028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uid 能否跨月、跨年对上？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决定能否做季度追踪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82768" y="4140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" y="4552950"/>
            <a:ext cx="2798445" cy="636270"/>
            <a:chOff x="704850" y="4552950"/>
            <a:chExt cx="2798445" cy="636270"/>
          </a:xfrm>
        </p:grpSpPr>
        <p:sp>
          <p:nvSpPr>
            <p:cNvPr id="22" name="Ellipse 22"/>
            <p:cNvSpPr/>
            <p:nvPr/>
          </p:nvSpPr>
          <p:spPr>
            <a:xfrm>
              <a:off x="704850" y="45529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0373" y="46291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3480" y="4629150"/>
              <a:ext cx="2329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is_core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weight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的定义？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一人多卡怎么处理？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04850" y="5486400"/>
            <a:ext cx="4208145" cy="836295"/>
            <a:chOff x="704850" y="5486400"/>
            <a:chExt cx="4208145" cy="836295"/>
          </a:xfrm>
        </p:grpSpPr>
        <p:sp>
          <p:nvSpPr>
            <p:cNvPr id="26" name="Ellipse 26"/>
            <p:cNvSpPr/>
            <p:nvPr/>
          </p:nvSpPr>
          <p:spPr>
            <a:xfrm>
              <a:off x="7048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0373" y="55626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73480" y="5495925"/>
              <a:ext cx="37395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整天流动的骑手、司机会不会被判出</a:t>
              </a:r>
              <a:br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ptype=2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工作地？30 分钟驻留规则的影响？</a:t>
              </a:r>
              <a:br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ptype=3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是什么？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81750" y="1752600"/>
            <a:ext cx="3141345" cy="636270"/>
            <a:chOff x="6381750" y="1752600"/>
            <a:chExt cx="3141345" cy="636270"/>
          </a:xfrm>
        </p:grpSpPr>
        <p:sp>
          <p:nvSpPr>
            <p:cNvPr id="30" name="Ellipse 30"/>
            <p:cNvSpPr/>
            <p:nvPr/>
          </p:nvSpPr>
          <p:spPr>
            <a:xfrm>
              <a:off x="6381750" y="17526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87273" y="18288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0380" y="1828800"/>
              <a:ext cx="26727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快递公司作业 APP、京东秒送、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美团众包能否识别？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81750" y="2686050"/>
            <a:ext cx="4312920" cy="636270"/>
            <a:chOff x="6381750" y="2686050"/>
            <a:chExt cx="4312920" cy="636270"/>
          </a:xfrm>
        </p:grpSpPr>
        <p:sp>
          <p:nvSpPr>
            <p:cNvPr id="34" name="Ellipse 34"/>
            <p:cNvSpPr/>
            <p:nvPr/>
          </p:nvSpPr>
          <p:spPr>
            <a:xfrm>
              <a:off x="6381750" y="26860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87273" y="2762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0380" y="2762250"/>
              <a:ext cx="3844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能否上传自己的对照表（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fnid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→ 街道、环路、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用地类型、城中村），像以前的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wl_code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81750" y="3619500"/>
            <a:ext cx="3617595" cy="636270"/>
            <a:chOff x="6381750" y="3619500"/>
            <a:chExt cx="3617595" cy="636270"/>
          </a:xfrm>
        </p:grpSpPr>
        <p:sp>
          <p:nvSpPr>
            <p:cNvPr id="38" name="Ellipse 38"/>
            <p:cNvSpPr/>
            <p:nvPr/>
          </p:nvSpPr>
          <p:spPr>
            <a:xfrm>
              <a:off x="6381750" y="3619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87273" y="3695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0380" y="3695700"/>
              <a:ext cx="31489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系统是否支持 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coalesce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、窗口函数？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单次运行有没有时长或资源限制？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81750" y="4552950"/>
            <a:ext cx="3531870" cy="636270"/>
            <a:chOff x="6381750" y="4552950"/>
            <a:chExt cx="3531870" cy="636270"/>
          </a:xfrm>
        </p:grpSpPr>
        <p:sp>
          <p:nvSpPr>
            <p:cNvPr id="42" name="Ellipse 42"/>
            <p:cNvSpPr/>
            <p:nvPr/>
          </p:nvSpPr>
          <p:spPr>
            <a:xfrm>
              <a:off x="6381750" y="45529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87273" y="46291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0380" y="4629150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用聚合结果发表论文需要什么流程？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是否要公司书面同意？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381750" y="5486400"/>
            <a:ext cx="3912870" cy="636270"/>
            <a:chOff x="6381750" y="5486400"/>
            <a:chExt cx="3912870" cy="636270"/>
          </a:xfrm>
        </p:grpSpPr>
        <p:sp>
          <p:nvSpPr>
            <p:cNvPr id="46" name="Ellipse 46"/>
            <p:cNvSpPr/>
            <p:nvPr/>
          </p:nvSpPr>
          <p:spPr>
            <a:xfrm>
              <a:off x="63817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28965" y="55626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50380" y="5562600"/>
              <a:ext cx="3444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你们识别平台从业者的专利号和方法要点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（论文里引用）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50" name="Line 50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4266" y="6592252"/>
              <a:ext cx="2371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琥珀色为关键卡点：先确认第 1、3 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482918"/>
            <a:ext cx="10808360" cy="903922"/>
            <a:chOff x="594360" y="482918"/>
            <a:chExt cx="10808360" cy="903922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482918"/>
              <a:ext cx="135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· 成果与对接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800100"/>
              <a:ext cx="10808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建议分工：你把关口径与方法，我们做 SQL、分析与写作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00200"/>
            <a:ext cx="5295900" cy="1828800"/>
            <a:chOff x="609600" y="1600200"/>
            <a:chExt cx="5295900" cy="1828800"/>
          </a:xfrm>
        </p:grpSpPr>
        <p:sp>
          <p:nvSpPr>
            <p:cNvPr id="6" name="Rectangle 6"/>
            <p:cNvSpPr/>
            <p:nvPr/>
          </p:nvSpPr>
          <p:spPr>
            <a:xfrm>
              <a:off x="609600" y="1600200"/>
              <a:ext cx="5295900" cy="182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52959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4400" y="1828800"/>
              <a:ext cx="203199" cy="241299"/>
              <a:chOff x="914400" y="1828800"/>
              <a:chExt cx="203199" cy="2412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39800" y="1828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14400" y="1981200"/>
                <a:ext cx="698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8700" y="1981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4739" y="2047239"/>
                <a:ext cx="2286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22860">
                    <a:moveTo>
                      <a:pt x="0" y="0"/>
                    </a:moveTo>
                    <a:lnTo>
                      <a:pt x="22860" y="2286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47394" y="18087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永恒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2260282"/>
              <a:ext cx="4176332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27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数据口径与识别方法把关（结合专利经验）</a:t>
              </a:r>
            </a:p>
            <a:p>
              <a:pPr algn="l" marL="178118" indent="-178118">
                <a:lnSpc>
                  <a:spcPts val="27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平台运行规则把关</a:t>
              </a:r>
            </a:p>
            <a:p>
              <a:pPr algn="l" marL="178118" indent="-178118">
                <a:lnSpc>
                  <a:spcPts val="27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参与论文写作，共同署名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600200"/>
            <a:ext cx="5295900" cy="1828800"/>
            <a:chOff x="6286500" y="1600200"/>
            <a:chExt cx="5295900" cy="18288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600200"/>
              <a:ext cx="5295900" cy="182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600200"/>
              <a:ext cx="52959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53200" y="1841500"/>
              <a:ext cx="228599" cy="203199"/>
              <a:chOff x="6553200" y="1841500"/>
              <a:chExt cx="228599" cy="2031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53200" y="18923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0"/>
                    </a:moveTo>
                    <a:lnTo>
                      <a:pt x="0" y="50800"/>
                    </a:lnTo>
                    <a:lnTo>
                      <a:pt x="508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730999" y="18923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0"/>
                    </a:moveTo>
                    <a:lnTo>
                      <a:pt x="50800" y="50800"/>
                    </a:ln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42100" y="1841500"/>
                <a:ext cx="50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199">
                    <a:moveTo>
                      <a:pt x="50800" y="0"/>
                    </a:moveTo>
                    <a:lnTo>
                      <a:pt x="0" y="2031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924294" y="18087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王良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6718" y="2260282"/>
              <a:ext cx="2258949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27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研究设计、SQL、分析</a:t>
              </a:r>
            </a:p>
            <a:p>
              <a:pPr algn="l" marL="178118" indent="-178118">
                <a:lnSpc>
                  <a:spcPts val="27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出图、论文起草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8242" y="3054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节奏：每两周线上碰一次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609600" y="4076700"/>
            <a:ext cx="2343150" cy="53340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2743200" y="4076700"/>
            <a:ext cx="2343150" cy="533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876800" y="4076700"/>
            <a:ext cx="2343150" cy="533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7010400" y="4076700"/>
            <a:ext cx="2343150" cy="533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9144000" y="4076700"/>
            <a:ext cx="2343150" cy="5334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602742" y="3759518"/>
            <a:ext cx="10425946" cy="782002"/>
            <a:chOff x="602742" y="3759518"/>
            <a:chExt cx="10425946" cy="782002"/>
          </a:xfrm>
        </p:grpSpPr>
        <p:sp>
          <p:nvSpPr>
            <p:cNvPr id="31" name="TextBox 31"/>
            <p:cNvSpPr txBox="1"/>
            <p:nvPr/>
          </p:nvSpPr>
          <p:spPr>
            <a:xfrm>
              <a:off x="602742" y="3759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时间线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04950" y="42481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806" y="4248150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月底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1371" y="4248150"/>
              <a:ext cx="514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 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41854" y="4248150"/>
              <a:ext cx="1480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月—次年 1 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2462" y="4248150"/>
              <a:ext cx="1426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2027 年 2—6 月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8180" y="4829175"/>
            <a:ext cx="10502265" cy="826770"/>
            <a:chOff x="678180" y="4829175"/>
            <a:chExt cx="10502265" cy="826770"/>
          </a:xfrm>
        </p:grpSpPr>
        <p:sp>
          <p:nvSpPr>
            <p:cNvPr id="38" name="TextBox 38"/>
            <p:cNvSpPr txBox="1"/>
            <p:nvPr/>
          </p:nvSpPr>
          <p:spPr>
            <a:xfrm>
              <a:off x="678180" y="4829175"/>
              <a:ext cx="198929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你提供新版 APP 名录；</a:t>
              </a:r>
              <a:br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我们跑 00 数据摸底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11780" y="4829175"/>
              <a:ext cx="1967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定稿 APP 清单和阈值，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 uid 追踪情景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5380" y="4829175"/>
              <a:ext cx="1348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 01 状态表、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截面汇总，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与公开数据校验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78980" y="4829175"/>
              <a:ext cx="1567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 1 分析写作，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月投稿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12580" y="4829175"/>
              <a:ext cx="1967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转移汇总与论文 2，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月投稿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5829300"/>
            <a:ext cx="10972800" cy="495300"/>
            <a:chOff x="609600" y="5829300"/>
            <a:chExt cx="10972800" cy="495300"/>
          </a:xfrm>
        </p:grpSpPr>
        <p:sp>
          <p:nvSpPr>
            <p:cNvPr id="44" name="Rectangle 44"/>
            <p:cNvSpPr/>
            <p:nvPr/>
          </p:nvSpPr>
          <p:spPr>
            <a:xfrm>
              <a:off x="609600" y="5829300"/>
              <a:ext cx="10972800" cy="495300"/>
            </a:xfrm>
            <a:prstGeom prst="rect">
              <a:avLst/>
            </a:prstGeom>
            <a:solidFill>
              <a:srgbClr val="FCF3D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" y="5829300"/>
              <a:ext cx="5715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93763" y="5977985"/>
              <a:ext cx="155575" cy="198978"/>
              <a:chOff x="893763" y="5977985"/>
              <a:chExt cx="155575" cy="19897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93763" y="5977985"/>
                <a:ext cx="155575" cy="142367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42367">
                    <a:moveTo>
                      <a:pt x="0" y="21177"/>
                    </a:moveTo>
                    <a:cubicBezTo>
                      <a:pt x="21605" y="0"/>
                      <a:pt x="56183" y="0"/>
                      <a:pt x="77788" y="21177"/>
                    </a:cubicBezTo>
                    <a:cubicBezTo>
                      <a:pt x="99393" y="42355"/>
                      <a:pt x="133970" y="42355"/>
                      <a:pt x="155575" y="21177"/>
                    </a:cubicBezTo>
                    <a:lnTo>
                      <a:pt x="155575" y="121190"/>
                    </a:lnTo>
                    <a:cubicBezTo>
                      <a:pt x="133970" y="142367"/>
                      <a:pt x="99393" y="142367"/>
                      <a:pt x="77788" y="121190"/>
                    </a:cubicBezTo>
                    <a:cubicBezTo>
                      <a:pt x="56183" y="100013"/>
                      <a:pt x="21605" y="100013"/>
                      <a:pt x="0" y="121190"/>
                    </a:cubicBezTo>
                    <a:lnTo>
                      <a:pt x="0" y="2117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93763" y="6099175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77788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210818" y="5975032"/>
              <a:ext cx="68382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本周两件事：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你提供新版 APP 名录；我们在 DaaS 上跑 00 数据摸底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266" y="6477000"/>
            <a:ext cx="10983468" cy="320611"/>
            <a:chOff x="604266" y="6477000"/>
            <a:chExt cx="10983468" cy="320611"/>
          </a:xfrm>
        </p:grpSpPr>
        <p:sp>
          <p:nvSpPr>
            <p:cNvPr id="51" name="Line 51"/>
            <p:cNvSpPr/>
            <p:nvPr/>
          </p:nvSpPr>
          <p:spPr>
            <a:xfrm>
              <a:off x="609600" y="6477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4266" y="6592252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北京“铁人三项”从业者研究 · 与智慧足迹对接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035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yongheng_meeting">
  <a:themeElements>
    <a:clrScheme name="yongheng_meeting">
      <a:dk1>
        <a:srgbClr val="1E2633"/>
      </a:dk1>
      <a:lt1>
        <a:srgbClr val="FFFFFF"/>
      </a:lt1>
      <a:dk2>
        <a:srgbClr val="1F497D"/>
      </a:dk2>
      <a:lt2>
        <a:srgbClr val="F3F5F8"/>
      </a:lt2>
      <a:accent1>
        <a:srgbClr val="1B3A5C"/>
      </a:accent1>
      <a:accent2>
        <a:srgbClr val="E3A21A"/>
      </a:accent2>
      <a:accent3>
        <a:srgbClr val="3E7CB1"/>
      </a:accent3>
      <a:accent4>
        <a:srgbClr val="1B3A5C"/>
      </a:accent4>
      <a:accent5>
        <a:srgbClr val="5B6675"/>
      </a:accent5>
      <a:accent6>
        <a:srgbClr val="D5DBE3"/>
      </a:accent6>
      <a:hlink>
        <a:srgbClr val="E3A21A"/>
      </a:hlink>
      <a:folHlink>
        <a:srgbClr val="3E7CB1"/>
      </a:folHlink>
    </a:clrScheme>
    <a:fontScheme name="yongheng_meet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ngheng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yongheng_meeting">
  <a:themeElements>
    <a:clrScheme name="yongheng_meeting">
      <a:dk1>
        <a:srgbClr val="1E2633"/>
      </a:dk1>
      <a:lt1>
        <a:srgbClr val="FFFFFF"/>
      </a:lt1>
      <a:dk2>
        <a:srgbClr val="1F497D"/>
      </a:dk2>
      <a:lt2>
        <a:srgbClr val="F3F5F8"/>
      </a:lt2>
      <a:accent1>
        <a:srgbClr val="1B3A5C"/>
      </a:accent1>
      <a:accent2>
        <a:srgbClr val="E3A21A"/>
      </a:accent2>
      <a:accent3>
        <a:srgbClr val="3E7CB1"/>
      </a:accent3>
      <a:accent4>
        <a:srgbClr val="1B3A5C"/>
      </a:accent4>
      <a:accent5>
        <a:srgbClr val="5B6675"/>
      </a:accent5>
      <a:accent6>
        <a:srgbClr val="D5DBE3"/>
      </a:accent6>
      <a:hlink>
        <a:srgbClr val="E3A21A"/>
      </a:hlink>
      <a:folHlink>
        <a:srgbClr val="3E7CB1"/>
      </a:folHlink>
    </a:clrScheme>
    <a:fontScheme name="yongheng_meet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ngheng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2026-10-15T07:47:13Z</dcterms:created>
  <dcterms:modified xsi:type="dcterms:W3CDTF">2026-10-15T07:47:13Z</dcterms:modified>
  <cp:category/>
  <cp:contentStatus/>
</cp:coreProperties>
</file>